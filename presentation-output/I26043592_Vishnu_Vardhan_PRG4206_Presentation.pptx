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00f8c418e44304" /><Relationship Type="http://schemas.openxmlformats.org/officeDocument/2006/relationships/extended-properties" Target="/docProps/app.xml" Id="Rf0b0143a92564d18" /><Relationship Type="http://schemas.openxmlformats.org/officeDocument/2006/relationships/officeDocument" Target="/ppt/presentation.xml" Id="Ra8b0d2da77ff455c" /></Relationships>
</file>

<file path=ppt/presentation.xml><?xml version="1.0" encoding="utf-8"?>
<p:presentation xmlns:p="http://schemas.openxmlformats.org/presentationml/2006/main">
  <p:sldMasterIdLst>
    <p:sldMasterId xmlns:r="http://schemas.openxmlformats.org/officeDocument/2006/relationships" id="2147483648" r:id="Rc4c11340de8b4ed8"/>
  </p:sldMasterIdLst>
  <p:notesMasterIdLst>
    <p:notesMasterId xmlns:r="http://schemas.openxmlformats.org/officeDocument/2006/relationships" r:id="R7917ae5051384247"/>
  </p:notesMasterIdLst>
  <p:sldIdLst>
    <p:sldId xmlns:r="http://schemas.openxmlformats.org/officeDocument/2006/relationships" id="256" r:id="Raae6373af5f24b2c"/>
    <p:sldId xmlns:r="http://schemas.openxmlformats.org/officeDocument/2006/relationships" id="257" r:id="R8a1012e51b634830"/>
    <p:sldId xmlns:r="http://schemas.openxmlformats.org/officeDocument/2006/relationships" id="258" r:id="R881f7d7b352a401b"/>
    <p:sldId xmlns:r="http://schemas.openxmlformats.org/officeDocument/2006/relationships" id="259" r:id="R25727835edf64fff"/>
    <p:sldId xmlns:r="http://schemas.openxmlformats.org/officeDocument/2006/relationships" id="260" r:id="Re3bf1d3dcb344f2b"/>
    <p:sldId xmlns:r="http://schemas.openxmlformats.org/officeDocument/2006/relationships" id="261" r:id="R5cb6833d3eda4285"/>
    <p:sldId xmlns:r="http://schemas.openxmlformats.org/officeDocument/2006/relationships" id="262" r:id="R63d8f0dd05f545b9"/>
    <p:sldId xmlns:r="http://schemas.openxmlformats.org/officeDocument/2006/relationships" id="263" r:id="R8b5e20b89c8c4a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2e9922090a45b8" /><Relationship Type="http://schemas.openxmlformats.org/officeDocument/2006/relationships/slideMaster" Target="/ppt/slideMasters/slideMaster1.xml" Id="Rc4c11340de8b4ed8" /><Relationship Type="http://schemas.openxmlformats.org/officeDocument/2006/relationships/notesMaster" Target="/ppt/notesMasters/notesMaster1.xml" Id="R7917ae5051384247" /><Relationship Type="http://schemas.openxmlformats.org/officeDocument/2006/relationships/presProps" Target="/ppt/presProps.xml" Id="R858ba72e9c644a89" /><Relationship Type="http://schemas.openxmlformats.org/officeDocument/2006/relationships/tableStyles" Target="/ppt/tableStyles.xml" Id="R64059570ea9b4b86" /><Relationship Type="http://schemas.openxmlformats.org/officeDocument/2006/relationships/slide" Target="/ppt/slides/slide1.xml" Id="Raae6373af5f24b2c" /><Relationship Type="http://schemas.openxmlformats.org/officeDocument/2006/relationships/slide" Target="/ppt/slides/slide2.xml" Id="R8a1012e51b634830" /><Relationship Type="http://schemas.openxmlformats.org/officeDocument/2006/relationships/slide" Target="/ppt/slides/slide3.xml" Id="R881f7d7b352a401b" /><Relationship Type="http://schemas.openxmlformats.org/officeDocument/2006/relationships/slide" Target="/ppt/slides/slide4.xml" Id="R25727835edf64fff" /><Relationship Type="http://schemas.openxmlformats.org/officeDocument/2006/relationships/slide" Target="/ppt/slides/slide5.xml" Id="Re3bf1d3dcb344f2b" /><Relationship Type="http://schemas.openxmlformats.org/officeDocument/2006/relationships/slide" Target="/ppt/slides/slide6.xml" Id="R5cb6833d3eda4285" /><Relationship Type="http://schemas.openxmlformats.org/officeDocument/2006/relationships/slide" Target="/ppt/slides/slide7.xml" Id="R63d8f0dd05f545b9" /><Relationship Type="http://schemas.openxmlformats.org/officeDocument/2006/relationships/slide" Target="/ppt/slides/slide8.xml" Id="R8b5e20b89c8c4a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be09009a2b43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c7c07e0ebc4cc0" /><Relationship Type="http://schemas.openxmlformats.org/officeDocument/2006/relationships/notesMaster" Target="/ppt/notesMasters/notesMaster1.xml" Id="Ra75f81d6016449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e46ae5ca6f4032" /><Relationship Type="http://schemas.openxmlformats.org/officeDocument/2006/relationships/notesMaster" Target="/ppt/notesMasters/notesMaster1.xml" Id="Rf79b4672f23343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1bd62a7e6e4447" /><Relationship Type="http://schemas.openxmlformats.org/officeDocument/2006/relationships/notesMaster" Target="/ppt/notesMasters/notesMaster1.xml" Id="R813e8949408643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45a0d358ff40b8" /><Relationship Type="http://schemas.openxmlformats.org/officeDocument/2006/relationships/notesMaster" Target="/ppt/notesMasters/notesMaster1.xml" Id="R15ef07b19dc44d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9142281d204ae9" /><Relationship Type="http://schemas.openxmlformats.org/officeDocument/2006/relationships/notesMaster" Target="/ppt/notesMasters/notesMaster1.xml" Id="R41e155ea553b4b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b588cefc554d06" /><Relationship Type="http://schemas.openxmlformats.org/officeDocument/2006/relationships/notesMaster" Target="/ppt/notesMasters/notesMaster1.xml" Id="R2a293735d61546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b8b5fec5ba403e" /><Relationship Type="http://schemas.openxmlformats.org/officeDocument/2006/relationships/notesMaster" Target="/ppt/notesMasters/notesMaster1.xml" Id="Rc2ae9baff72d4f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611b9eca0046cd" /><Relationship Type="http://schemas.openxmlformats.org/officeDocument/2006/relationships/notesMaster" Target="/ppt/notesMasters/notesMaster1.xml" Id="Rffaad4c5f54840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My project is a comparative and explainable machine learning system for detecting AI-generated text. The goal is to distinguish human-written and AI-generated answers using the HC3 benchmark and compare three classical machine learning approaches. The final system also provides explainability so that predictions are not treated as a black 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increasingly important because AI-generated text is now common in education, business and online information. However, detector performance can depend strongly on the dataset and writing domain. My project therefore focuses on a rigorous comparison of simple, reproducible and explainable machine learning models. The main research questions are accuracy, whether differences are statistically meaningful, and which linguistic and stylometric signals influence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used the HC3 Human ChatGPT Comparison Corpus, released in 2023. After cleaning and removing exact duplicates, the final dataset contains 79,331 answer samples. There are 53,086 human samples and 26,245 AI samples. I used a stratified 70 percent training, 15 percent validation and 15 percent test split with random seed 42. The dataset covers five domains: Reddit ELI5, finance, open QA, medicine and wiki-CSAI. The exploratory analysis also showed differences in text length and writing characteristics between human and AI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contains three benchmark models. Logistic Regression and Linear SVM use TF-IDF lexical features. XGBoost uses 21 engineered stylometric and structural features, including word length, paragraph count and lexical diversity. Hyperparameters were tuned using five-fold stratified cross-validation. SVM probabilities were also calibrated using Platt scaling. The pipeline then performs quantitative evaluation and explainability, with the trained models exposed through a Streamlit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held-out test set, Linear SVM achieved 98.61 percent accuracy and 97.90 percent F1. Logistic Regression achieved 98.53 percent accuracy and 97.77 percent F1. XGBoost achieved 96.95 percent accuracy and 95.43 percent F1. All three models achieved ROC-AUC above 99 percent. The corrected McNemar test between SVM and Logistic Regression produced a p-value of 0.1443. Therefore, although SVM has the slightly higher F1 score, the difference is not statistically significant. Both linear models significantly outperform XGBoost in the paired test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explainability, the strongest XGBoost feature was average word length, followed by paragraph count and unique-word ratio. The lexical analysis also identified formal transition phrases such as in summary, furthermore and overall as patterns associated with AI predictions. In contrast, contractions, informal expressions and emotional punctuation were more associated with human text. The model also performs differently across domains. Medicine has extremely high performance, while wiki-CSAI is the weakest domain for the SVM model. This shows why domain generalisation is an important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I will demonstrate the working prototype. The application allows me to select a trained model, enter text, obtain a prediction and inspect the associated explanation. For the first test case, I am using an informal conversational example. I will submit the text and allow the selected model to make the prediction. For the second test case, I am using a more formal and structured example. Again, I am not manually assigning the label. The trained model produces the prediction. For the final test, I am comparing the models using the same input. SVM and Logistic Regression use TF-IDF lexical representations, while XGBoost uses engineered stylometric features. This demonstrates how different feature representations can lead to different model behaviour. This completes the live demonstration of the detection and explainability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conclusion, the experiments show that TF-IDF with linear classifiers can provide very strong performance on the HC3 benchmark while remaining fast, reproducible and explainable. The best test F1 was 97.90 percent. However, the results should not be interpreted as universal proof of authorship because dataset characteristics and domain shift can affect performance. Future work will focus on cross-dataset evaluation, paraphrase and adversarial robustness, multilingual evaluation and improved calibration. The detector should therefore be treated as decision support rather than definitive evidence of who wrote a piece of text.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91953c9b0b44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1a7c88dc2d49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7f799f644c940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be11700f904a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65665ee564d47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fa2506fc8b40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453596-7DAE-4513-A015-56E133D0F2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306E28-7CAD-4261-A22F-D5DCA99E96A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0799D6-E1E5-4F88-AAA7-58DD2D59F6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0A83DA-5D91-4C62-8458-75E597EDF5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96CBF06-0312-4E3A-B3C7-76BFF8B039A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BA512A6-2DE0-4B48-A396-43522BCFC0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446B52-EBFA-4113-A4F5-68F7ECC548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4E20D3F-70BE-42ED-AF72-0C8E96B7F18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0F8866-0851-49BF-89BD-C659F50BC3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DD3707-E851-45B9-9836-7B1EF5404F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00e66fdea24988" /><Relationship Type="http://schemas.openxmlformats.org/officeDocument/2006/relationships/slideLayout" Target="/ppt/slideLayouts/slideLayout1.xml" Id="Re0b7317eb3de4e46" /><Relationship Type="http://schemas.openxmlformats.org/officeDocument/2006/relationships/slideLayout" Target="/ppt/slideLayouts/slideLayout2.xml" Id="Rf7ec729bef914066" /><Relationship Type="http://schemas.openxmlformats.org/officeDocument/2006/relationships/slideLayout" Target="/ppt/slideLayouts/slideLayout3.xml" Id="R3dc9a063a0f74ff4" /><Relationship Type="http://schemas.openxmlformats.org/officeDocument/2006/relationships/slideLayout" Target="/ppt/slideLayouts/slideLayout4.xml" Id="R364ef3856d2f49da" /><Relationship Type="http://schemas.openxmlformats.org/officeDocument/2006/relationships/slideLayout" Target="/ppt/slideLayouts/slideLayout5.xml" Id="R6d4ad1aed3ca4da3" /><Relationship Type="http://schemas.openxmlformats.org/officeDocument/2006/relationships/slideLayout" Target="/ppt/slideLayouts/slideLayout6.xml" Id="Rd0d7922c03cf41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b7317eb3de4e46"/>
    <p:sldLayoutId xmlns:r="http://schemas.openxmlformats.org/officeDocument/2006/relationships" id="2147483650" r:id="Rf7ec729bef914066"/>
    <p:sldLayoutId xmlns:r="http://schemas.openxmlformats.org/officeDocument/2006/relationships" id="2147483651" r:id="R3dc9a063a0f74ff4"/>
    <p:sldLayoutId xmlns:r="http://schemas.openxmlformats.org/officeDocument/2006/relationships" id="2147483652" r:id="R364ef3856d2f49da"/>
    <p:sldLayoutId xmlns:r="http://schemas.openxmlformats.org/officeDocument/2006/relationships" id="2147483653" r:id="R6d4ad1aed3ca4da3"/>
    <p:sldLayoutId xmlns:r="http://schemas.openxmlformats.org/officeDocument/2006/relationships" id="2147483654" r:id="Rd0d7922c03cf41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70c1e265e6d4609" /><Relationship Type="http://schemas.openxmlformats.org/officeDocument/2006/relationships/notesSlide" Target="/ppt/notesSlides/notesSlide1.xml" Id="Rbb17c4889e8f44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10201c8b544dc4" /><Relationship Type="http://schemas.openxmlformats.org/officeDocument/2006/relationships/notesSlide" Target="/ppt/notesSlides/notesSlide2.xml" Id="R269ef83e5c854d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17a9031796e4e0d" /><Relationship Type="http://schemas.openxmlformats.org/officeDocument/2006/relationships/image" Target="/ppt/media/image.png" Id="Rebde9e8953da4712" /><Relationship Type="http://schemas.openxmlformats.org/officeDocument/2006/relationships/image" Target="/ppt/media/image2.png" Id="R005911bc385b4896" /><Relationship Type="http://schemas.openxmlformats.org/officeDocument/2006/relationships/notesSlide" Target="/ppt/notesSlides/notesSlide3.xml" Id="R75847768d0354e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a011550278d4483" /><Relationship Type="http://schemas.openxmlformats.org/officeDocument/2006/relationships/notesSlide" Target="/ppt/notesSlides/notesSlide4.xml" Id="Rb43bffb2c16e43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017d58024e34038" /><Relationship Type="http://schemas.openxmlformats.org/officeDocument/2006/relationships/image" Target="/ppt/media/image3.png" Id="R3fa65cc59e824427" /><Relationship Type="http://schemas.openxmlformats.org/officeDocument/2006/relationships/notesSlide" Target="/ppt/notesSlides/notesSlide5.xml" Id="Rca70abf1790d4d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ff4a8e86f3c4da5" /><Relationship Type="http://schemas.openxmlformats.org/officeDocument/2006/relationships/image" Target="/ppt/media/image4.png" Id="Rd0159861bf8a44a8" /><Relationship Type="http://schemas.openxmlformats.org/officeDocument/2006/relationships/notesSlide" Target="/ppt/notesSlides/notesSlide6.xml" Id="R47cc726cca6f48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b00465cd384feb" /><Relationship Type="http://schemas.openxmlformats.org/officeDocument/2006/relationships/notesSlide" Target="/ppt/notesSlides/notesSlide7.xml" Id="R317a56f1211d45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8fc0406c7c440f" /><Relationship Type="http://schemas.openxmlformats.org/officeDocument/2006/relationships/notesSlide" Target="/ppt/notesSlides/notesSlide8.xml" Id="Rd9d7f179eab04ccb"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7D248B-C5BF-40FE-B8EA-A3E683E32B08}"/>
              </a:ext>
            </a:extLst>
          </p:cNvPr>
          <p:cNvSpPr>
            <a:spLocks xmlns:a="http://schemas.openxmlformats.org/drawingml/2006/main" noGrp="1"/>
          </p:cNvSpPr>
          <p:nvPr/>
        </p:nvSpPr>
        <p:spPr>
          <a:xfrm xmlns:a="http://schemas.openxmlformats.org/drawingml/2006/main">
            <a:off x="723900" y="1190625"/>
            <a:ext cx="766762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8FAFC"/>
                </a:solidFill>
              </a:defRPr>
            </a:defPPr>
          </a:lstStyle>
          <a:p xmlns:a="http://schemas.openxmlformats.org/drawingml/2006/main">
            <a:pPr>
              <a:defRPr sz="3450" b="1">
                <a:solidFill>
                  <a:srgbClr val="F8FAFC"/>
                </a:solidFill>
              </a:defRPr>
            </a:pPr>
            <a:r>
              <a:rPr sz="3450" b="1">
                <a:solidFill>
                  <a:srgbClr val="F8FAFC"/>
                </a:solidFill>
              </a:rPr>
              <a:t>A Comparative and Explainable</a:t>
            </a:r>
          </a:p>
          <a:p xmlns:a="http://schemas.openxmlformats.org/drawingml/2006/main">
            <a:pPr>
              <a:defRPr sz="3450" b="1">
                <a:solidFill>
                  <a:srgbClr val="F8FAFC"/>
                </a:solidFill>
              </a:defRPr>
            </a:pPr>
            <a:r>
              <a:rPr sz="3450" b="1">
                <a:solidFill>
                  <a:srgbClr val="F8FAFC"/>
                </a:solidFill>
              </a:rPr>
              <a:t>Machine Learning System for</a:t>
            </a:r>
          </a:p>
          <a:p xmlns:a="http://schemas.openxmlformats.org/drawingml/2006/main">
            <a:pPr>
              <a:defRPr sz="3450" b="1">
                <a:solidFill>
                  <a:srgbClr val="F8FAFC"/>
                </a:solidFill>
              </a:defRPr>
            </a:pPr>
            <a:r>
              <a:rPr sz="3450" b="1">
                <a:solidFill>
                  <a:srgbClr val="F8FAFC"/>
                </a:solidFill>
              </a:rPr>
              <a:t>AI-Generated Text Detection</a:t>
            </a:r>
          </a:p>
        </p:txBody>
      </p:sp>
      <p:sp>
        <p:nvSpPr>
          <p:cNvPr id="2" name="">
            <a:extLst xmlns:a="http://schemas.openxmlformats.org/drawingml/2006/main">
              <a:ext uri="{FF2B5EF4-FFF2-40B4-BE49-F238E27FC236}">
                <a16:creationId xmlns:a16="http://schemas.microsoft.com/office/drawing/2014/main" id="{4DE161C4-D710-477A-8DDC-B4382F4164E1}"/>
              </a:ext>
            </a:extLst>
          </p:cNvPr>
          <p:cNvSpPr>
            <a:spLocks xmlns:a="http://schemas.openxmlformats.org/drawingml/2006/main" noGrp="1"/>
          </p:cNvSpPr>
          <p:nvPr/>
        </p:nvSpPr>
        <p:spPr>
          <a:xfrm xmlns:a="http://schemas.openxmlformats.org/drawingml/2006/main">
            <a:off x="762000" y="37147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99F6E4"/>
                </a:solidFill>
              </a:defRPr>
            </a:defPPr>
          </a:lstStyle>
          <a:p xmlns:a="http://schemas.openxmlformats.org/drawingml/2006/main">
            <a:pPr>
              <a:defRPr sz="1800" b="0">
                <a:solidFill>
                  <a:srgbClr val="99F6E4"/>
                </a:solidFill>
              </a:defRPr>
            </a:pPr>
            <a:r>
              <a:rPr sz="1800" b="0">
                <a:solidFill>
                  <a:srgbClr val="99F6E4"/>
                </a:solidFill>
              </a:rPr>
              <a:t>PRG4206 Individual Machine Learning Project</a:t>
            </a:r>
          </a:p>
        </p:txBody>
      </p:sp>
      <p:sp>
        <p:nvSpPr>
          <p:cNvPr id="3" name="">
            <a:extLst xmlns:a="http://schemas.openxmlformats.org/drawingml/2006/main">
              <a:ext uri="{FF2B5EF4-FFF2-40B4-BE49-F238E27FC236}">
                <a16:creationId xmlns:a16="http://schemas.microsoft.com/office/drawing/2014/main" id="{E50C0336-4FD7-4507-89C2-F95945036779}"/>
              </a:ext>
            </a:extLst>
          </p:cNvPr>
          <p:cNvSpPr>
            <a:spLocks xmlns:a="http://schemas.openxmlformats.org/drawingml/2006/main" noGrp="1"/>
          </p:cNvSpPr>
          <p:nvPr/>
        </p:nvSpPr>
        <p:spPr>
          <a:xfrm xmlns:a="http://schemas.openxmlformats.org/drawingml/2006/main">
            <a:off x="762000" y="4191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E2E8F0"/>
                </a:solidFill>
              </a:defRPr>
            </a:defPPr>
          </a:lstStyle>
          <a:p xmlns:a="http://schemas.openxmlformats.org/drawingml/2006/main">
            <a:pPr>
              <a:defRPr sz="1500" b="0">
                <a:solidFill>
                  <a:srgbClr val="E2E8F0"/>
                </a:solidFill>
              </a:defRPr>
            </a:pPr>
            <a:r>
              <a:rPr sz="1500" b="0">
                <a:solidFill>
                  <a:srgbClr val="E2E8F0"/>
                </a:solidFill>
              </a:rPr>
              <a:t>I26043592 — Vishnu Vardhan</a:t>
            </a:r>
          </a:p>
        </p:txBody>
      </p:sp>
      <p:sp>
        <p:nvSpPr>
          <p:cNvPr id="4" name="">
            <a:extLst xmlns:a="http://schemas.openxmlformats.org/drawingml/2006/main">
              <a:ext uri="{FF2B5EF4-FFF2-40B4-BE49-F238E27FC236}">
                <a16:creationId xmlns:a16="http://schemas.microsoft.com/office/drawing/2014/main" id="{A63C7A46-9604-4FD2-A8AD-52EE7844728A}"/>
              </a:ext>
            </a:extLst>
          </p:cNvPr>
          <p:cNvSpPr>
            <a:spLocks xmlns:a="http://schemas.openxmlformats.org/drawingml/2006/main" noGrp="1"/>
          </p:cNvSpPr>
          <p:nvPr/>
        </p:nvSpPr>
        <p:spPr>
          <a:xfrm xmlns:a="http://schemas.openxmlformats.org/drawingml/2006/main">
            <a:off x="762000" y="54768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CBD5E1"/>
                </a:solidFill>
              </a:defRPr>
            </a:defPPr>
          </a:lstStyle>
          <a:p xmlns:a="http://schemas.openxmlformats.org/drawingml/2006/main">
            <a:pPr>
              <a:defRPr sz="1350" b="0">
                <a:solidFill>
                  <a:srgbClr val="CBD5E1"/>
                </a:solidFill>
              </a:defRPr>
            </a:pPr>
            <a:r>
              <a:rPr sz="1350" b="0">
                <a:solidFill>
                  <a:srgbClr val="CBD5E1"/>
                </a:solidFill>
              </a:rPr>
              <a:t>HC3 benchmark | Classical ML | Explainability</a:t>
            </a:r>
          </a:p>
        </p:txBody>
      </p:sp>
    </p:spTree>
    <p:extLst>
      <p:ext uri="{BB962C8B-B14F-4D97-AF65-F5344CB8AC3E}">
        <p14:creationId xmlns:p14="http://schemas.microsoft.com/office/powerpoint/2010/main" val="1676096708"/>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8B7179-B831-4F55-A0AC-8F369BD23F37}"/>
              </a:ext>
            </a:extLst>
          </p:cNvPr>
          <p:cNvSpPr>
            <a:spLocks xmlns:a="http://schemas.openxmlformats.org/drawingml/2006/main" noGrp="1"/>
          </p:cNvSpPr>
          <p:nvPr/>
        </p:nvSpPr>
        <p:spPr>
          <a:xfrm xmlns:a="http://schemas.openxmlformats.org/drawingml/2006/main">
            <a:off x="666750" y="523875"/>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0F172A"/>
                </a:solidFill>
              </a:defRPr>
            </a:defPPr>
          </a:lstStyle>
          <a:p xmlns:a="http://schemas.openxmlformats.org/drawingml/2006/main">
            <a:pPr>
              <a:defRPr sz="2550" b="1">
                <a:solidFill>
                  <a:srgbClr val="0F172A"/>
                </a:solidFill>
              </a:defRPr>
            </a:pPr>
            <a:r>
              <a:rPr sz="2550" b="1">
                <a:solidFill>
                  <a:srgbClr val="0F172A"/>
                </a:solidFill>
              </a:rPr>
              <a:t>Problem and research gap</a:t>
            </a:r>
          </a:p>
        </p:txBody>
      </p:sp>
      <p:sp>
        <p:nvSpPr>
          <p:cNvPr id="2" name="">
            <a:extLst xmlns:a="http://schemas.openxmlformats.org/drawingml/2006/main">
              <a:ext uri="{FF2B5EF4-FFF2-40B4-BE49-F238E27FC236}">
                <a16:creationId xmlns:a16="http://schemas.microsoft.com/office/drawing/2014/main" id="{ECD6B1C0-9241-4BEC-8627-1E4C42B8609B}"/>
              </a:ext>
            </a:extLst>
          </p:cNvPr>
          <p:cNvSpPr>
            <a:spLocks xmlns:a="http://schemas.openxmlformats.org/drawingml/2006/main" noGrp="1"/>
          </p:cNvSpPr>
          <p:nvPr/>
        </p:nvSpPr>
        <p:spPr>
          <a:xfrm xmlns:a="http://schemas.openxmlformats.org/drawingml/2006/main">
            <a:off x="685800" y="10668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174"/>
                </a:solidFill>
              </a:defRPr>
            </a:defPPr>
          </a:lstStyle>
          <a:p xmlns:a="http://schemas.openxmlformats.org/drawingml/2006/main">
            <a:pPr>
              <a:defRPr sz="1050" b="0">
                <a:solidFill>
                  <a:srgbClr val="536174"/>
                </a:solidFill>
              </a:defRPr>
            </a:pPr>
            <a:r>
              <a:rPr sz="1050" b="0">
                <a:solidFill>
                  <a:srgbClr val="536174"/>
                </a:solidFill>
              </a:rPr>
              <a:t>PRG4206 Machine Learning | I26043592 — Vishnu Vardhan</a:t>
            </a:r>
          </a:p>
        </p:txBody>
      </p:sp>
      <p:sp>
        <p:nvSpPr>
          <p:cNvPr id="3" name="">
            <a:extLst xmlns:a="http://schemas.openxmlformats.org/drawingml/2006/main">
              <a:ext uri="{FF2B5EF4-FFF2-40B4-BE49-F238E27FC236}">
                <a16:creationId xmlns:a16="http://schemas.microsoft.com/office/drawing/2014/main" id="{C1A04155-B3E7-48FE-AA6E-A6227294426D}"/>
              </a:ext>
            </a:extLst>
          </p:cNvPr>
          <p:cNvSpPr>
            <a:spLocks xmlns:a="http://schemas.openxmlformats.org/drawingml/2006/main" noGrp="1"/>
          </p:cNvSpPr>
          <p:nvPr/>
        </p:nvSpPr>
        <p:spPr>
          <a:xfrm xmlns:a="http://schemas.openxmlformats.org/drawingml/2006/main">
            <a:off x="666750" y="1428750"/>
            <a:ext cx="108585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4" name="">
            <a:extLst xmlns:a="http://schemas.openxmlformats.org/drawingml/2006/main">
              <a:ext uri="{FF2B5EF4-FFF2-40B4-BE49-F238E27FC236}">
                <a16:creationId xmlns:a16="http://schemas.microsoft.com/office/drawing/2014/main" id="{D06F92A8-44B3-4A6F-BC96-18B3D04537A3}"/>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174"/>
                </a:solidFill>
              </a:defRPr>
            </a:defPPr>
          </a:lstStyle>
          <a:p xmlns:a="http://schemas.openxmlformats.org/drawingml/2006/main">
            <a:pPr>
              <a:defRPr sz="975" b="1">
                <a:solidFill>
                  <a:srgbClr val="536174"/>
                </a:solidFill>
              </a:defRPr>
            </a:pPr>
            <a:r>
              <a:rPr sz="975" b="1">
                <a:solidFill>
                  <a:srgbClr val="536174"/>
                </a:solidFill>
              </a:rPr>
              <a:t>02</a:t>
            </a:r>
          </a:p>
        </p:txBody>
      </p:sp>
      <p:sp>
        <p:nvSpPr>
          <p:cNvPr id="5" name="">
            <a:extLst xmlns:a="http://schemas.openxmlformats.org/drawingml/2006/main">
              <a:ext uri="{FF2B5EF4-FFF2-40B4-BE49-F238E27FC236}">
                <a16:creationId xmlns:a16="http://schemas.microsoft.com/office/drawing/2014/main" id="{0F6EA462-1A76-4797-91ED-94F6A210C21C}"/>
              </a:ext>
            </a:extLst>
          </p:cNvPr>
          <p:cNvSpPr>
            <a:spLocks xmlns:a="http://schemas.openxmlformats.org/drawingml/2006/main" noGrp="1"/>
          </p:cNvSpPr>
          <p:nvPr/>
        </p:nvSpPr>
        <p:spPr>
          <a:xfrm xmlns:a="http://schemas.openxmlformats.org/drawingml/2006/main">
            <a:off x="714375" y="1809750"/>
            <a:ext cx="619125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2033"/>
                </a:solidFill>
              </a:defRPr>
            </a:defPPr>
          </a:lstStyle>
          <a:p xmlns:a="http://schemas.openxmlformats.org/drawingml/2006/main">
            <a:pPr>
              <a:defRPr sz="1800" b="0">
                <a:solidFill>
                  <a:srgbClr val="172033"/>
                </a:solidFill>
              </a:defRPr>
            </a:pPr>
            <a:r>
              <a:rPr sz="1800" b="0">
                <a:solidFill>
                  <a:srgbClr val="172033"/>
                </a:solidFill>
              </a:rPr>
              <a:t>•  AI-generated text now appears in education, business, and online information.</a:t>
            </a:r>
          </a:p>
          <a:p xmlns:a="http://schemas.openxmlformats.org/drawingml/2006/main">
            <a:r>
              <a:t/>
            </a:r>
          </a:p>
          <a:p xmlns:a="http://schemas.openxmlformats.org/drawingml/2006/main">
            <a:pPr>
              <a:defRPr sz="1800" b="0">
                <a:solidFill>
                  <a:srgbClr val="172033"/>
                </a:solidFill>
              </a:defRPr>
            </a:pPr>
            <a:r>
              <a:rPr sz="1800" b="0">
                <a:solidFill>
                  <a:srgbClr val="172033"/>
                </a:solidFill>
              </a:rPr>
              <a:t>•  Detector performance can depend strongly on the dataset and writing domain.</a:t>
            </a:r>
          </a:p>
          <a:p xmlns:a="http://schemas.openxmlformats.org/drawingml/2006/main">
            <a:r>
              <a:t/>
            </a:r>
          </a:p>
          <a:p xmlns:a="http://schemas.openxmlformats.org/drawingml/2006/main">
            <a:pPr>
              <a:defRPr sz="1800" b="0">
                <a:solidFill>
                  <a:srgbClr val="172033"/>
                </a:solidFill>
              </a:defRPr>
            </a:pPr>
            <a:r>
              <a:rPr sz="1800" b="0">
                <a:solidFill>
                  <a:srgbClr val="172033"/>
                </a:solidFill>
              </a:rPr>
              <a:t>•  This project compares simple, reproducible, and explainable machine learning models.</a:t>
            </a:r>
          </a:p>
        </p:txBody>
      </p:sp>
      <p:sp>
        <p:nvSpPr>
          <p:cNvPr id="6" name="">
            <a:extLst xmlns:a="http://schemas.openxmlformats.org/drawingml/2006/main">
              <a:ext uri="{FF2B5EF4-FFF2-40B4-BE49-F238E27FC236}">
                <a16:creationId xmlns:a16="http://schemas.microsoft.com/office/drawing/2014/main" id="{95525B96-0F47-44D8-AACE-488BC440CC7F}"/>
              </a:ext>
            </a:extLst>
          </p:cNvPr>
          <p:cNvSpPr>
            <a:spLocks xmlns:a="http://schemas.openxmlformats.org/drawingml/2006/main" noGrp="1"/>
          </p:cNvSpPr>
          <p:nvPr/>
        </p:nvSpPr>
        <p:spPr>
          <a:xfrm xmlns:a="http://schemas.openxmlformats.org/drawingml/2006/main">
            <a:off x="7524750" y="18097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F766E"/>
                </a:solidFill>
              </a:defRPr>
            </a:defPPr>
          </a:lstStyle>
          <a:p xmlns:a="http://schemas.openxmlformats.org/drawingml/2006/main">
            <a:pPr>
              <a:defRPr sz="1875" b="1">
                <a:solidFill>
                  <a:srgbClr val="0F766E"/>
                </a:solidFill>
              </a:defRPr>
            </a:pPr>
            <a:r>
              <a:rPr sz="1875" b="1">
                <a:solidFill>
                  <a:srgbClr val="0F766E"/>
                </a:solidFill>
              </a:rPr>
              <a:t>Research questions</a:t>
            </a:r>
          </a:p>
        </p:txBody>
      </p:sp>
      <p:sp>
        <p:nvSpPr>
          <p:cNvPr id="7" name="">
            <a:extLst xmlns:a="http://schemas.openxmlformats.org/drawingml/2006/main">
              <a:ext uri="{FF2B5EF4-FFF2-40B4-BE49-F238E27FC236}">
                <a16:creationId xmlns:a16="http://schemas.microsoft.com/office/drawing/2014/main" id="{C5E4C1EC-F596-435E-A263-9268BDF85230}"/>
              </a:ext>
            </a:extLst>
          </p:cNvPr>
          <p:cNvSpPr>
            <a:spLocks xmlns:a="http://schemas.openxmlformats.org/drawingml/2006/main" noGrp="1"/>
          </p:cNvSpPr>
          <p:nvPr/>
        </p:nvSpPr>
        <p:spPr>
          <a:xfrm xmlns:a="http://schemas.openxmlformats.org/drawingml/2006/main">
            <a:off x="7524750" y="2333625"/>
            <a:ext cx="371475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72033"/>
                </a:solidFill>
              </a:defRPr>
            </a:defPPr>
          </a:lstStyle>
          <a:p xmlns:a="http://schemas.openxmlformats.org/drawingml/2006/main">
            <a:pPr>
              <a:defRPr sz="1425" b="0">
                <a:solidFill>
                  <a:srgbClr val="172033"/>
                </a:solidFill>
              </a:defRPr>
            </a:pPr>
            <a:r>
              <a:rPr sz="1425" b="0">
                <a:solidFill>
                  <a:srgbClr val="172033"/>
                </a:solidFill>
              </a:rPr>
              <a:t>•  How accurately can classical ML separate AI and human text?</a:t>
            </a:r>
          </a:p>
          <a:p xmlns:a="http://schemas.openxmlformats.org/drawingml/2006/main">
            <a:r>
              <a:t/>
            </a:r>
          </a:p>
          <a:p xmlns:a="http://schemas.openxmlformats.org/drawingml/2006/main">
            <a:pPr>
              <a:defRPr sz="1425" b="0">
                <a:solidFill>
                  <a:srgbClr val="172033"/>
                </a:solidFill>
              </a:defRPr>
            </a:pPr>
            <a:r>
              <a:rPr sz="1425" b="0">
                <a:solidFill>
                  <a:srgbClr val="172033"/>
                </a:solidFill>
              </a:rPr>
              <a:t>•  Which model performs best, and is the difference statistically meaningful?</a:t>
            </a:r>
          </a:p>
          <a:p xmlns:a="http://schemas.openxmlformats.org/drawingml/2006/main">
            <a:r>
              <a:t/>
            </a:r>
          </a:p>
          <a:p xmlns:a="http://schemas.openxmlformats.org/drawingml/2006/main">
            <a:pPr>
              <a:defRPr sz="1425" b="0">
                <a:solidFill>
                  <a:srgbClr val="172033"/>
                </a:solidFill>
              </a:defRPr>
            </a:pPr>
            <a:r>
              <a:rPr sz="1425" b="0">
                <a:solidFill>
                  <a:srgbClr val="172033"/>
                </a:solidFill>
              </a:rPr>
              <a:t>•  Which linguistic and stylometric signals influence predictions?</a:t>
            </a:r>
          </a:p>
        </p:txBody>
      </p:sp>
    </p:spTree>
    <p:extLst>
      <p:ext uri="{BB962C8B-B14F-4D97-AF65-F5344CB8AC3E}">
        <p14:creationId xmlns:p14="http://schemas.microsoft.com/office/powerpoint/2010/main" val="1199092720"/>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DF87DF-D395-4F60-9A21-F61D9E328567}"/>
              </a:ext>
            </a:extLst>
          </p:cNvPr>
          <p:cNvSpPr>
            <a:spLocks xmlns:a="http://schemas.openxmlformats.org/drawingml/2006/main" noGrp="1"/>
          </p:cNvSpPr>
          <p:nvPr/>
        </p:nvSpPr>
        <p:spPr>
          <a:xfrm xmlns:a="http://schemas.openxmlformats.org/drawingml/2006/main">
            <a:off x="666750" y="523875"/>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0F172A"/>
                </a:solidFill>
              </a:defRPr>
            </a:defPPr>
          </a:lstStyle>
          <a:p xmlns:a="http://schemas.openxmlformats.org/drawingml/2006/main">
            <a:pPr>
              <a:defRPr sz="2550" b="1">
                <a:solidFill>
                  <a:srgbClr val="0F172A"/>
                </a:solidFill>
              </a:defRPr>
            </a:pPr>
            <a:r>
              <a:rPr sz="2550" b="1">
                <a:solidFill>
                  <a:srgbClr val="0F172A"/>
                </a:solidFill>
              </a:rPr>
              <a:t>HC3 dataset and exploratory analysis</a:t>
            </a:r>
          </a:p>
        </p:txBody>
      </p:sp>
      <p:sp>
        <p:nvSpPr>
          <p:cNvPr id="2" name="">
            <a:extLst xmlns:a="http://schemas.openxmlformats.org/drawingml/2006/main">
              <a:ext uri="{FF2B5EF4-FFF2-40B4-BE49-F238E27FC236}">
                <a16:creationId xmlns:a16="http://schemas.microsoft.com/office/drawing/2014/main" id="{8174C6FB-51D5-46FF-ACBE-0D9720117833}"/>
              </a:ext>
            </a:extLst>
          </p:cNvPr>
          <p:cNvSpPr>
            <a:spLocks xmlns:a="http://schemas.openxmlformats.org/drawingml/2006/main" noGrp="1"/>
          </p:cNvSpPr>
          <p:nvPr/>
        </p:nvSpPr>
        <p:spPr>
          <a:xfrm xmlns:a="http://schemas.openxmlformats.org/drawingml/2006/main">
            <a:off x="685800" y="10668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174"/>
                </a:solidFill>
              </a:defRPr>
            </a:defPPr>
          </a:lstStyle>
          <a:p xmlns:a="http://schemas.openxmlformats.org/drawingml/2006/main">
            <a:pPr>
              <a:defRPr sz="1050" b="0">
                <a:solidFill>
                  <a:srgbClr val="536174"/>
                </a:solidFill>
              </a:defRPr>
            </a:pPr>
            <a:r>
              <a:rPr sz="1050" b="0">
                <a:solidFill>
                  <a:srgbClr val="536174"/>
                </a:solidFill>
              </a:rPr>
              <a:t>PRG4206 Machine Learning | I26043592 — Vishnu Vardhan</a:t>
            </a:r>
          </a:p>
        </p:txBody>
      </p:sp>
      <p:sp>
        <p:nvSpPr>
          <p:cNvPr id="3" name="">
            <a:extLst xmlns:a="http://schemas.openxmlformats.org/drawingml/2006/main">
              <a:ext uri="{FF2B5EF4-FFF2-40B4-BE49-F238E27FC236}">
                <a16:creationId xmlns:a16="http://schemas.microsoft.com/office/drawing/2014/main" id="{12A16040-0228-4B1A-9A6B-DA2D950006DF}"/>
              </a:ext>
            </a:extLst>
          </p:cNvPr>
          <p:cNvSpPr>
            <a:spLocks xmlns:a="http://schemas.openxmlformats.org/drawingml/2006/main" noGrp="1"/>
          </p:cNvSpPr>
          <p:nvPr/>
        </p:nvSpPr>
        <p:spPr>
          <a:xfrm xmlns:a="http://schemas.openxmlformats.org/drawingml/2006/main">
            <a:off x="666750" y="1428750"/>
            <a:ext cx="108585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4" name="">
            <a:extLst xmlns:a="http://schemas.openxmlformats.org/drawingml/2006/main">
              <a:ext uri="{FF2B5EF4-FFF2-40B4-BE49-F238E27FC236}">
                <a16:creationId xmlns:a16="http://schemas.microsoft.com/office/drawing/2014/main" id="{5D607E80-F780-48AD-AABB-116D4E2A1970}"/>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174"/>
                </a:solidFill>
              </a:defRPr>
            </a:defPPr>
          </a:lstStyle>
          <a:p xmlns:a="http://schemas.openxmlformats.org/drawingml/2006/main">
            <a:pPr>
              <a:defRPr sz="975" b="1">
                <a:solidFill>
                  <a:srgbClr val="536174"/>
                </a:solidFill>
              </a:defRPr>
            </a:pPr>
            <a:r>
              <a:rPr sz="975" b="1">
                <a:solidFill>
                  <a:srgbClr val="536174"/>
                </a:solidFill>
              </a:rPr>
              <a:t>03</a:t>
            </a:r>
          </a:p>
        </p:txBody>
      </p:sp>
      <p:sp>
        <p:nvSpPr>
          <p:cNvPr id="5" name="">
            <a:extLst xmlns:a="http://schemas.openxmlformats.org/drawingml/2006/main">
              <a:ext uri="{FF2B5EF4-FFF2-40B4-BE49-F238E27FC236}">
                <a16:creationId xmlns:a16="http://schemas.microsoft.com/office/drawing/2014/main" id="{3AC976E0-C0F2-4C77-B2FE-E39E92A3E03E}"/>
              </a:ext>
            </a:extLst>
          </p:cNvPr>
          <p:cNvSpPr>
            <a:spLocks xmlns:a="http://schemas.openxmlformats.org/drawingml/2006/main" noGrp="1"/>
          </p:cNvSpPr>
          <p:nvPr/>
        </p:nvSpPr>
        <p:spPr>
          <a:xfrm xmlns:a="http://schemas.openxmlformats.org/drawingml/2006/main">
            <a:off x="762000" y="18097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0F766E"/>
                </a:solidFill>
              </a:defRPr>
            </a:defPPr>
          </a:lstStyle>
          <a:p xmlns:a="http://schemas.openxmlformats.org/drawingml/2006/main">
            <a:pPr>
              <a:defRPr sz="3600" b="1">
                <a:solidFill>
                  <a:srgbClr val="0F766E"/>
                </a:solidFill>
              </a:defRPr>
            </a:pPr>
            <a:r>
              <a:rPr sz="3600" b="1">
                <a:solidFill>
                  <a:srgbClr val="0F766E"/>
                </a:solidFill>
              </a:rPr>
              <a:t>79,331</a:t>
            </a:r>
          </a:p>
        </p:txBody>
      </p:sp>
      <p:sp>
        <p:nvSpPr>
          <p:cNvPr id="6" name="">
            <a:extLst xmlns:a="http://schemas.openxmlformats.org/drawingml/2006/main">
              <a:ext uri="{FF2B5EF4-FFF2-40B4-BE49-F238E27FC236}">
                <a16:creationId xmlns:a16="http://schemas.microsoft.com/office/drawing/2014/main" id="{5E69F622-E18F-456D-9003-704F32D2DFB6}"/>
              </a:ext>
            </a:extLst>
          </p:cNvPr>
          <p:cNvSpPr>
            <a:spLocks xmlns:a="http://schemas.openxmlformats.org/drawingml/2006/main" noGrp="1"/>
          </p:cNvSpPr>
          <p:nvPr/>
        </p:nvSpPr>
        <p:spPr>
          <a:xfrm xmlns:a="http://schemas.openxmlformats.org/drawingml/2006/main">
            <a:off x="800100" y="23812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174"/>
                </a:solidFill>
              </a:defRPr>
            </a:defPPr>
          </a:lstStyle>
          <a:p xmlns:a="http://schemas.openxmlformats.org/drawingml/2006/main">
            <a:pPr>
              <a:defRPr sz="1500" b="0">
                <a:solidFill>
                  <a:srgbClr val="536174"/>
                </a:solidFill>
              </a:defRPr>
            </a:pPr>
            <a:r>
              <a:rPr sz="1500" b="0">
                <a:solidFill>
                  <a:srgbClr val="536174"/>
                </a:solidFill>
              </a:rPr>
              <a:t>clean answer samples</a:t>
            </a:r>
          </a:p>
        </p:txBody>
      </p:sp>
      <p:sp>
        <p:nvSpPr>
          <p:cNvPr id="7" name="">
            <a:extLst xmlns:a="http://schemas.openxmlformats.org/drawingml/2006/main">
              <a:ext uri="{FF2B5EF4-FFF2-40B4-BE49-F238E27FC236}">
                <a16:creationId xmlns:a16="http://schemas.microsoft.com/office/drawing/2014/main" id="{0C5747AE-4C0E-4BC0-AE5E-C5DD2B0B33E2}"/>
              </a:ext>
            </a:extLst>
          </p:cNvPr>
          <p:cNvSpPr>
            <a:spLocks xmlns:a="http://schemas.openxmlformats.org/drawingml/2006/main" noGrp="1"/>
          </p:cNvSpPr>
          <p:nvPr/>
        </p:nvSpPr>
        <p:spPr>
          <a:xfrm xmlns:a="http://schemas.openxmlformats.org/drawingml/2006/main">
            <a:off x="762000" y="3048000"/>
            <a:ext cx="53340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2033"/>
                </a:solidFill>
              </a:defRPr>
            </a:defPPr>
          </a:lstStyle>
          <a:p xmlns:a="http://schemas.openxmlformats.org/drawingml/2006/main">
            <a:pPr>
              <a:defRPr sz="1500" b="0">
                <a:solidFill>
                  <a:srgbClr val="172033"/>
                </a:solidFill>
              </a:defRPr>
            </a:pPr>
            <a:r>
              <a:rPr sz="1500" b="0">
                <a:solidFill>
                  <a:srgbClr val="172033"/>
                </a:solidFill>
              </a:rPr>
              <a:t>•  53,086 Human samples (66.9%)</a:t>
            </a:r>
          </a:p>
          <a:p xmlns:a="http://schemas.openxmlformats.org/drawingml/2006/main">
            <a:r>
              <a:t/>
            </a:r>
          </a:p>
          <a:p xmlns:a="http://schemas.openxmlformats.org/drawingml/2006/main">
            <a:pPr>
              <a:defRPr sz="1500" b="0">
                <a:solidFill>
                  <a:srgbClr val="172033"/>
                </a:solidFill>
              </a:defRPr>
            </a:pPr>
            <a:r>
              <a:rPr sz="1500" b="0">
                <a:solidFill>
                  <a:srgbClr val="172033"/>
                </a:solidFill>
              </a:rPr>
              <a:t>•  26,245 AI samples (33.1%)</a:t>
            </a:r>
          </a:p>
          <a:p xmlns:a="http://schemas.openxmlformats.org/drawingml/2006/main">
            <a:r>
              <a:t/>
            </a:r>
          </a:p>
          <a:p xmlns:a="http://schemas.openxmlformats.org/drawingml/2006/main">
            <a:pPr>
              <a:defRPr sz="1500" b="0">
                <a:solidFill>
                  <a:srgbClr val="172033"/>
                </a:solidFill>
              </a:defRPr>
            </a:pPr>
            <a:r>
              <a:rPr sz="1500" b="0">
                <a:solidFill>
                  <a:srgbClr val="172033"/>
                </a:solidFill>
              </a:rPr>
              <a:t>•  Stratified split: 70% train, 15% validation, 15% test</a:t>
            </a:r>
          </a:p>
          <a:p xmlns:a="http://schemas.openxmlformats.org/drawingml/2006/main">
            <a:r>
              <a:t/>
            </a:r>
          </a:p>
          <a:p xmlns:a="http://schemas.openxmlformats.org/drawingml/2006/main">
            <a:pPr>
              <a:defRPr sz="1500" b="0">
                <a:solidFill>
                  <a:srgbClr val="172033"/>
                </a:solidFill>
              </a:defRPr>
            </a:pPr>
            <a:r>
              <a:rPr sz="1500" b="0">
                <a:solidFill>
                  <a:srgbClr val="172033"/>
                </a:solidFill>
              </a:rPr>
              <a:t>•  Held-out test set: 11,900 samples</a:t>
            </a:r>
          </a:p>
          <a:p xmlns:a="http://schemas.openxmlformats.org/drawingml/2006/main">
            <a:r>
              <a:t/>
            </a:r>
          </a:p>
          <a:p xmlns:a="http://schemas.openxmlformats.org/drawingml/2006/main">
            <a:pPr>
              <a:defRPr sz="1500" b="0">
                <a:solidFill>
                  <a:srgbClr val="172033"/>
                </a:solidFill>
              </a:defRPr>
            </a:pPr>
            <a:r>
              <a:rPr sz="1500" b="0">
                <a:solidFill>
                  <a:srgbClr val="172033"/>
                </a:solidFill>
              </a:rPr>
              <a:t>•  Five domains: Reddit ELI5, finance, open QA, medicine, wiki-CSAI</a:t>
            </a:r>
          </a:p>
        </p:txBody>
      </p:sp>
      <p:pic>
        <p:nvPicPr>
          <p:cNvPr id="8" name="">
            <a:extLst xmlns:a="http://schemas.openxmlformats.org/drawingml/2006/main">
              <a:ext uri="{FF2B5EF4-FFF2-40B4-BE49-F238E27FC236}">
                <a16:creationId xmlns:a16="http://schemas.microsoft.com/office/drawing/2014/main" id="{AF4C9C0C-9480-4A2D-8351-EDD14816F49C}"/>
              </a:ext>
            </a:extLst>
          </p:cNvPr>
          <p:cNvPicPr>
            <a:picLocks xmlns:a="http://schemas.openxmlformats.org/drawingml/2006/main" noChangeAspect="1"/>
          </p:cNvPicPr>
          <p:nvPr/>
        </p:nvPicPr>
        <p:blipFill>
          <a:blip xmlns:r="http://schemas.openxmlformats.org/officeDocument/2006/relationships" xmlns:a="http://schemas.openxmlformats.org/drawingml/2006/main" r:embed="Rebde9e8953da4712"/>
          <a:stretch xmlns:a="http://schemas.openxmlformats.org/drawingml/2006/main"/>
        </p:blipFill>
        <p:spPr>
          <a:xfrm xmlns:a="http://schemas.openxmlformats.org/drawingml/2006/main">
            <a:off x="7072313" y="1762125"/>
            <a:ext cx="3286125" cy="2190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AFA92C6-B83F-4173-A0D9-D1C5885D1FDD}"/>
              </a:ext>
            </a:extLst>
          </p:cNvPr>
          <p:cNvPicPr>
            <a:picLocks xmlns:a="http://schemas.openxmlformats.org/drawingml/2006/main" noChangeAspect="1"/>
          </p:cNvPicPr>
          <p:nvPr/>
        </p:nvPicPr>
        <p:blipFill>
          <a:blip xmlns:r="http://schemas.openxmlformats.org/officeDocument/2006/relationships" xmlns:a="http://schemas.openxmlformats.org/drawingml/2006/main" r:embed="R005911bc385b4896"/>
          <a:stretch xmlns:a="http://schemas.openxmlformats.org/drawingml/2006/main"/>
        </p:blipFill>
        <p:spPr>
          <a:xfrm xmlns:a="http://schemas.openxmlformats.org/drawingml/2006/main">
            <a:off x="6572250" y="4235223"/>
            <a:ext cx="4286250" cy="1530804"/>
          </a:xfrm>
          <a:prstGeom xmlns:a="http://schemas.openxmlformats.org/drawingml/2006/main" prst="rect">
            <a:avLst/>
          </a:prstGeom>
        </p:spPr>
      </p:pic>
    </p:spTree>
    <p:extLst>
      <p:ext uri="{BB962C8B-B14F-4D97-AF65-F5344CB8AC3E}">
        <p14:creationId xmlns:p14="http://schemas.microsoft.com/office/powerpoint/2010/main" val="78001984"/>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407F4A-F448-49FF-A3A9-09F6D97E1247}"/>
              </a:ext>
            </a:extLst>
          </p:cNvPr>
          <p:cNvSpPr>
            <a:spLocks xmlns:a="http://schemas.openxmlformats.org/drawingml/2006/main" noGrp="1"/>
          </p:cNvSpPr>
          <p:nvPr/>
        </p:nvSpPr>
        <p:spPr>
          <a:xfrm xmlns:a="http://schemas.openxmlformats.org/drawingml/2006/main">
            <a:off x="666750" y="523875"/>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0F172A"/>
                </a:solidFill>
              </a:defRPr>
            </a:defPPr>
          </a:lstStyle>
          <a:p xmlns:a="http://schemas.openxmlformats.org/drawingml/2006/main">
            <a:pPr>
              <a:defRPr sz="2550" b="1">
                <a:solidFill>
                  <a:srgbClr val="0F172A"/>
                </a:solidFill>
              </a:defRPr>
            </a:pPr>
            <a:r>
              <a:rPr sz="2550" b="1">
                <a:solidFill>
                  <a:srgbClr val="0F172A"/>
                </a:solidFill>
              </a:rPr>
              <a:t>Methodology and deployed system</a:t>
            </a:r>
          </a:p>
        </p:txBody>
      </p:sp>
      <p:sp>
        <p:nvSpPr>
          <p:cNvPr id="2" name="">
            <a:extLst xmlns:a="http://schemas.openxmlformats.org/drawingml/2006/main">
              <a:ext uri="{FF2B5EF4-FFF2-40B4-BE49-F238E27FC236}">
                <a16:creationId xmlns:a16="http://schemas.microsoft.com/office/drawing/2014/main" id="{7D9D39E3-01D4-47A7-A4F0-06B7D29C1AA3}"/>
              </a:ext>
            </a:extLst>
          </p:cNvPr>
          <p:cNvSpPr>
            <a:spLocks xmlns:a="http://schemas.openxmlformats.org/drawingml/2006/main" noGrp="1"/>
          </p:cNvSpPr>
          <p:nvPr/>
        </p:nvSpPr>
        <p:spPr>
          <a:xfrm xmlns:a="http://schemas.openxmlformats.org/drawingml/2006/main">
            <a:off x="685800" y="10668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174"/>
                </a:solidFill>
              </a:defRPr>
            </a:defPPr>
          </a:lstStyle>
          <a:p xmlns:a="http://schemas.openxmlformats.org/drawingml/2006/main">
            <a:pPr>
              <a:defRPr sz="1050" b="0">
                <a:solidFill>
                  <a:srgbClr val="536174"/>
                </a:solidFill>
              </a:defRPr>
            </a:pPr>
            <a:r>
              <a:rPr sz="1050" b="0">
                <a:solidFill>
                  <a:srgbClr val="536174"/>
                </a:solidFill>
              </a:rPr>
              <a:t>PRG4206 Machine Learning | I26043592 — Vishnu Vardhan</a:t>
            </a:r>
          </a:p>
        </p:txBody>
      </p:sp>
      <p:sp>
        <p:nvSpPr>
          <p:cNvPr id="3" name="">
            <a:extLst xmlns:a="http://schemas.openxmlformats.org/drawingml/2006/main">
              <a:ext uri="{FF2B5EF4-FFF2-40B4-BE49-F238E27FC236}">
                <a16:creationId xmlns:a16="http://schemas.microsoft.com/office/drawing/2014/main" id="{E3319583-7270-442F-A5C5-F82679459F01}"/>
              </a:ext>
            </a:extLst>
          </p:cNvPr>
          <p:cNvSpPr>
            <a:spLocks xmlns:a="http://schemas.openxmlformats.org/drawingml/2006/main" noGrp="1"/>
          </p:cNvSpPr>
          <p:nvPr/>
        </p:nvSpPr>
        <p:spPr>
          <a:xfrm xmlns:a="http://schemas.openxmlformats.org/drawingml/2006/main">
            <a:off x="666750" y="1428750"/>
            <a:ext cx="108585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4" name="">
            <a:extLst xmlns:a="http://schemas.openxmlformats.org/drawingml/2006/main">
              <a:ext uri="{FF2B5EF4-FFF2-40B4-BE49-F238E27FC236}">
                <a16:creationId xmlns:a16="http://schemas.microsoft.com/office/drawing/2014/main" id="{F0E33448-2280-4676-9CFC-44A4E80C483D}"/>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174"/>
                </a:solidFill>
              </a:defRPr>
            </a:defPPr>
          </a:lstStyle>
          <a:p xmlns:a="http://schemas.openxmlformats.org/drawingml/2006/main">
            <a:pPr>
              <a:defRPr sz="975" b="1">
                <a:solidFill>
                  <a:srgbClr val="536174"/>
                </a:solidFill>
              </a:defRPr>
            </a:pPr>
            <a:r>
              <a:rPr sz="975" b="1">
                <a:solidFill>
                  <a:srgbClr val="536174"/>
                </a:solidFill>
              </a:rPr>
              <a:t>04</a:t>
            </a:r>
          </a:p>
        </p:txBody>
      </p:sp>
      <p:sp>
        <p:nvSpPr>
          <p:cNvPr id="5" name="">
            <a:extLst xmlns:a="http://schemas.openxmlformats.org/drawingml/2006/main">
              <a:ext uri="{FF2B5EF4-FFF2-40B4-BE49-F238E27FC236}">
                <a16:creationId xmlns:a16="http://schemas.microsoft.com/office/drawing/2014/main" id="{863A1CB5-7D4C-4B56-930C-413A8631444F}"/>
              </a:ext>
            </a:extLst>
          </p:cNvPr>
          <p:cNvSpPr>
            <a:spLocks xmlns:a="http://schemas.openxmlformats.org/drawingml/2006/main" noGrp="1"/>
          </p:cNvSpPr>
          <p:nvPr/>
        </p:nvSpPr>
        <p:spPr>
          <a:xfrm xmlns:a="http://schemas.openxmlformats.org/drawingml/2006/main">
            <a:off x="809625" y="18097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F766E"/>
                </a:solidFill>
              </a:defRPr>
            </a:defPPr>
          </a:lstStyle>
          <a:p xmlns:a="http://schemas.openxmlformats.org/drawingml/2006/main">
            <a:pPr>
              <a:defRPr sz="1950" b="1">
                <a:solidFill>
                  <a:srgbClr val="0F766E"/>
                </a:solidFill>
              </a:defRPr>
            </a:pPr>
            <a:r>
              <a:rPr sz="1950" b="1">
                <a:solidFill>
                  <a:srgbClr val="0F766E"/>
                </a:solidFill>
              </a:rPr>
              <a:t>TF-IDF lexical models</a:t>
            </a:r>
          </a:p>
        </p:txBody>
      </p:sp>
      <p:sp>
        <p:nvSpPr>
          <p:cNvPr id="6" name="">
            <a:extLst xmlns:a="http://schemas.openxmlformats.org/drawingml/2006/main">
              <a:ext uri="{FF2B5EF4-FFF2-40B4-BE49-F238E27FC236}">
                <a16:creationId xmlns:a16="http://schemas.microsoft.com/office/drawing/2014/main" id="{ACB8153C-0013-474C-BE5B-9BDFBF994431}"/>
              </a:ext>
            </a:extLst>
          </p:cNvPr>
          <p:cNvSpPr>
            <a:spLocks xmlns:a="http://schemas.openxmlformats.org/drawingml/2006/main" noGrp="1"/>
          </p:cNvSpPr>
          <p:nvPr/>
        </p:nvSpPr>
        <p:spPr>
          <a:xfrm xmlns:a="http://schemas.openxmlformats.org/drawingml/2006/main">
            <a:off x="809625" y="2333625"/>
            <a:ext cx="409575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2033"/>
                </a:solidFill>
              </a:defRPr>
            </a:defPPr>
          </a:lstStyle>
          <a:p xmlns:a="http://schemas.openxmlformats.org/drawingml/2006/main">
            <a:pPr>
              <a:defRPr sz="1500" b="0">
                <a:solidFill>
                  <a:srgbClr val="172033"/>
                </a:solidFill>
              </a:defRPr>
            </a:pPr>
            <a:r>
              <a:rPr sz="1500" b="0">
                <a:solidFill>
                  <a:srgbClr val="172033"/>
                </a:solidFill>
              </a:rPr>
              <a:t>•  Logistic Regression + TF-IDF</a:t>
            </a:r>
          </a:p>
          <a:p xmlns:a="http://schemas.openxmlformats.org/drawingml/2006/main">
            <a:r>
              <a:t/>
            </a:r>
          </a:p>
          <a:p xmlns:a="http://schemas.openxmlformats.org/drawingml/2006/main">
            <a:pPr>
              <a:defRPr sz="1500" b="0">
                <a:solidFill>
                  <a:srgbClr val="172033"/>
                </a:solidFill>
              </a:defRPr>
            </a:pPr>
            <a:r>
              <a:rPr sz="1500" b="0">
                <a:solidFill>
                  <a:srgbClr val="172033"/>
                </a:solidFill>
              </a:rPr>
              <a:t>•  Linear SVM + TF-IDF</a:t>
            </a:r>
          </a:p>
          <a:p xmlns:a="http://schemas.openxmlformats.org/drawingml/2006/main">
            <a:r>
              <a:t/>
            </a:r>
          </a:p>
          <a:p xmlns:a="http://schemas.openxmlformats.org/drawingml/2006/main">
            <a:pPr>
              <a:defRPr sz="1500" b="0">
                <a:solidFill>
                  <a:srgbClr val="172033"/>
                </a:solidFill>
              </a:defRPr>
            </a:pPr>
            <a:r>
              <a:rPr sz="1500" b="0">
                <a:solidFill>
                  <a:srgbClr val="172033"/>
                </a:solidFill>
              </a:rPr>
              <a:t>•  Five-fold stratified cross-validation</a:t>
            </a:r>
          </a:p>
          <a:p xmlns:a="http://schemas.openxmlformats.org/drawingml/2006/main">
            <a:r>
              <a:t/>
            </a:r>
          </a:p>
          <a:p xmlns:a="http://schemas.openxmlformats.org/drawingml/2006/main">
            <a:pPr>
              <a:defRPr sz="1500" b="0">
                <a:solidFill>
                  <a:srgbClr val="172033"/>
                </a:solidFill>
              </a:defRPr>
            </a:pPr>
            <a:r>
              <a:rPr sz="1500" b="0">
                <a:solidFill>
                  <a:srgbClr val="172033"/>
                </a:solidFill>
              </a:rPr>
              <a:t>•  SVM probabilities calibrated with Platt scaling</a:t>
            </a:r>
          </a:p>
        </p:txBody>
      </p:sp>
      <p:sp>
        <p:nvSpPr>
          <p:cNvPr id="7" name="">
            <a:extLst xmlns:a="http://schemas.openxmlformats.org/drawingml/2006/main">
              <a:ext uri="{FF2B5EF4-FFF2-40B4-BE49-F238E27FC236}">
                <a16:creationId xmlns:a16="http://schemas.microsoft.com/office/drawing/2014/main" id="{7F4CEEAA-B735-4354-9E4D-5A35AE0F8AC0}"/>
              </a:ext>
            </a:extLst>
          </p:cNvPr>
          <p:cNvSpPr>
            <a:spLocks xmlns:a="http://schemas.openxmlformats.org/drawingml/2006/main" noGrp="1"/>
          </p:cNvSpPr>
          <p:nvPr/>
        </p:nvSpPr>
        <p:spPr>
          <a:xfrm xmlns:a="http://schemas.openxmlformats.org/drawingml/2006/main">
            <a:off x="6905625" y="18097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F766E"/>
                </a:solidFill>
              </a:defRPr>
            </a:defPPr>
          </a:lstStyle>
          <a:p xmlns:a="http://schemas.openxmlformats.org/drawingml/2006/main">
            <a:pPr>
              <a:defRPr sz="1950" b="1">
                <a:solidFill>
                  <a:srgbClr val="0F766E"/>
                </a:solidFill>
              </a:defRPr>
            </a:pPr>
            <a:r>
              <a:rPr sz="1950" b="1">
                <a:solidFill>
                  <a:srgbClr val="0F766E"/>
                </a:solidFill>
              </a:rPr>
              <a:t>Stylometric model</a:t>
            </a:r>
          </a:p>
        </p:txBody>
      </p:sp>
      <p:sp>
        <p:nvSpPr>
          <p:cNvPr id="8" name="">
            <a:extLst xmlns:a="http://schemas.openxmlformats.org/drawingml/2006/main">
              <a:ext uri="{FF2B5EF4-FFF2-40B4-BE49-F238E27FC236}">
                <a16:creationId xmlns:a16="http://schemas.microsoft.com/office/drawing/2014/main" id="{57998838-6976-462D-882D-4E040CA5C9C1}"/>
              </a:ext>
            </a:extLst>
          </p:cNvPr>
          <p:cNvSpPr>
            <a:spLocks xmlns:a="http://schemas.openxmlformats.org/drawingml/2006/main" noGrp="1"/>
          </p:cNvSpPr>
          <p:nvPr/>
        </p:nvSpPr>
        <p:spPr>
          <a:xfrm xmlns:a="http://schemas.openxmlformats.org/drawingml/2006/main">
            <a:off x="6905625" y="2333625"/>
            <a:ext cx="38100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72033"/>
                </a:solidFill>
              </a:defRPr>
            </a:defPPr>
          </a:lstStyle>
          <a:p xmlns:a="http://schemas.openxmlformats.org/drawingml/2006/main">
            <a:pPr>
              <a:defRPr sz="1500" b="0">
                <a:solidFill>
                  <a:srgbClr val="172033"/>
                </a:solidFill>
              </a:defRPr>
            </a:pPr>
            <a:r>
              <a:rPr sz="1500" b="0">
                <a:solidFill>
                  <a:srgbClr val="172033"/>
                </a:solidFill>
              </a:rPr>
              <a:t>•  XGBoost</a:t>
            </a:r>
          </a:p>
          <a:p xmlns:a="http://schemas.openxmlformats.org/drawingml/2006/main">
            <a:r>
              <a:t/>
            </a:r>
          </a:p>
          <a:p xmlns:a="http://schemas.openxmlformats.org/drawingml/2006/main">
            <a:pPr>
              <a:defRPr sz="1500" b="0">
                <a:solidFill>
                  <a:srgbClr val="172033"/>
                </a:solidFill>
              </a:defRPr>
            </a:pPr>
            <a:r>
              <a:rPr sz="1500" b="0">
                <a:solidFill>
                  <a:srgbClr val="172033"/>
                </a:solidFill>
              </a:rPr>
              <a:t>•  21 engineered structural and stylometric features</a:t>
            </a:r>
          </a:p>
          <a:p xmlns:a="http://schemas.openxmlformats.org/drawingml/2006/main">
            <a:r>
              <a:t/>
            </a:r>
          </a:p>
          <a:p xmlns:a="http://schemas.openxmlformats.org/drawingml/2006/main">
            <a:pPr>
              <a:defRPr sz="1500" b="0">
                <a:solidFill>
                  <a:srgbClr val="172033"/>
                </a:solidFill>
              </a:defRPr>
            </a:pPr>
            <a:r>
              <a:rPr sz="1500" b="0">
                <a:solidFill>
                  <a:srgbClr val="172033"/>
                </a:solidFill>
              </a:rPr>
              <a:t>•  Examples: word length, paragraph count, lexical diversity</a:t>
            </a:r>
          </a:p>
        </p:txBody>
      </p:sp>
      <p:sp>
        <p:nvSpPr>
          <p:cNvPr id="9" name="">
            <a:extLst xmlns:a="http://schemas.openxmlformats.org/drawingml/2006/main">
              <a:ext uri="{FF2B5EF4-FFF2-40B4-BE49-F238E27FC236}">
                <a16:creationId xmlns:a16="http://schemas.microsoft.com/office/drawing/2014/main" id="{DC23F302-718F-48FD-9078-F80B2A0A67CF}"/>
              </a:ext>
            </a:extLst>
          </p:cNvPr>
          <p:cNvSpPr>
            <a:spLocks xmlns:a="http://schemas.openxmlformats.org/drawingml/2006/main" noGrp="1"/>
          </p:cNvSpPr>
          <p:nvPr/>
        </p:nvSpPr>
        <p:spPr>
          <a:xfrm xmlns:a="http://schemas.openxmlformats.org/drawingml/2006/main">
            <a:off x="1000125" y="5334000"/>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F172A"/>
                </a:solidFill>
              </a:defRPr>
            </a:defPPr>
          </a:lstStyle>
          <a:p xmlns:a="http://schemas.openxmlformats.org/drawingml/2006/main">
            <a:pPr>
              <a:defRPr sz="1725" b="1">
                <a:solidFill>
                  <a:srgbClr val="0F172A"/>
                </a:solidFill>
              </a:defRPr>
            </a:pPr>
            <a:r>
              <a:rPr sz="1725" b="1">
                <a:solidFill>
                  <a:srgbClr val="0F172A"/>
                </a:solidFill>
              </a:rPr>
              <a:t>Training data → feature representation → tuned model → evaluation and XAI → Streamlit prototype</a:t>
            </a:r>
          </a:p>
        </p:txBody>
      </p:sp>
    </p:spTree>
    <p:extLst>
      <p:ext uri="{BB962C8B-B14F-4D97-AF65-F5344CB8AC3E}">
        <p14:creationId xmlns:p14="http://schemas.microsoft.com/office/powerpoint/2010/main" val="196353936"/>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6C08C41-4D0A-463C-8680-36793A01C253}"/>
              </a:ext>
            </a:extLst>
          </p:cNvPr>
          <p:cNvSpPr>
            <a:spLocks xmlns:a="http://schemas.openxmlformats.org/drawingml/2006/main" noGrp="1"/>
          </p:cNvSpPr>
          <p:nvPr/>
        </p:nvSpPr>
        <p:spPr>
          <a:xfrm xmlns:a="http://schemas.openxmlformats.org/drawingml/2006/main">
            <a:off x="666750" y="523875"/>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0F172A"/>
                </a:solidFill>
              </a:defRPr>
            </a:defPPr>
          </a:lstStyle>
          <a:p xmlns:a="http://schemas.openxmlformats.org/drawingml/2006/main">
            <a:pPr>
              <a:defRPr sz="2550" b="1">
                <a:solidFill>
                  <a:srgbClr val="0F172A"/>
                </a:solidFill>
              </a:defRPr>
            </a:pPr>
            <a:r>
              <a:rPr sz="2550" b="1">
                <a:solidFill>
                  <a:srgbClr val="0F172A"/>
                </a:solidFill>
              </a:rPr>
              <a:t>Held-out test results</a:t>
            </a:r>
          </a:p>
        </p:txBody>
      </p:sp>
      <p:sp>
        <p:nvSpPr>
          <p:cNvPr id="2" name="">
            <a:extLst xmlns:a="http://schemas.openxmlformats.org/drawingml/2006/main">
              <a:ext uri="{FF2B5EF4-FFF2-40B4-BE49-F238E27FC236}">
                <a16:creationId xmlns:a16="http://schemas.microsoft.com/office/drawing/2014/main" id="{894E4FA5-73E1-4A88-9F06-056343EED3EE}"/>
              </a:ext>
            </a:extLst>
          </p:cNvPr>
          <p:cNvSpPr>
            <a:spLocks xmlns:a="http://schemas.openxmlformats.org/drawingml/2006/main" noGrp="1"/>
          </p:cNvSpPr>
          <p:nvPr/>
        </p:nvSpPr>
        <p:spPr>
          <a:xfrm xmlns:a="http://schemas.openxmlformats.org/drawingml/2006/main">
            <a:off x="685800" y="10668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174"/>
                </a:solidFill>
              </a:defRPr>
            </a:defPPr>
          </a:lstStyle>
          <a:p xmlns:a="http://schemas.openxmlformats.org/drawingml/2006/main">
            <a:pPr>
              <a:defRPr sz="1050" b="0">
                <a:solidFill>
                  <a:srgbClr val="536174"/>
                </a:solidFill>
              </a:defRPr>
            </a:pPr>
            <a:r>
              <a:rPr sz="1050" b="0">
                <a:solidFill>
                  <a:srgbClr val="536174"/>
                </a:solidFill>
              </a:rPr>
              <a:t>PRG4206 Machine Learning | I26043592 — Vishnu Vardhan</a:t>
            </a:r>
          </a:p>
        </p:txBody>
      </p:sp>
      <p:sp>
        <p:nvSpPr>
          <p:cNvPr id="3" name="">
            <a:extLst xmlns:a="http://schemas.openxmlformats.org/drawingml/2006/main">
              <a:ext uri="{FF2B5EF4-FFF2-40B4-BE49-F238E27FC236}">
                <a16:creationId xmlns:a16="http://schemas.microsoft.com/office/drawing/2014/main" id="{1F90C846-BDDA-41D8-841D-A66E618FFF13}"/>
              </a:ext>
            </a:extLst>
          </p:cNvPr>
          <p:cNvSpPr>
            <a:spLocks xmlns:a="http://schemas.openxmlformats.org/drawingml/2006/main" noGrp="1"/>
          </p:cNvSpPr>
          <p:nvPr/>
        </p:nvSpPr>
        <p:spPr>
          <a:xfrm xmlns:a="http://schemas.openxmlformats.org/drawingml/2006/main">
            <a:off x="666750" y="1428750"/>
            <a:ext cx="108585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4" name="">
            <a:extLst xmlns:a="http://schemas.openxmlformats.org/drawingml/2006/main">
              <a:ext uri="{FF2B5EF4-FFF2-40B4-BE49-F238E27FC236}">
                <a16:creationId xmlns:a16="http://schemas.microsoft.com/office/drawing/2014/main" id="{F0B7D414-044A-48A5-904D-CB6053082B78}"/>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174"/>
                </a:solidFill>
              </a:defRPr>
            </a:defPPr>
          </a:lstStyle>
          <a:p xmlns:a="http://schemas.openxmlformats.org/drawingml/2006/main">
            <a:pPr>
              <a:defRPr sz="975" b="1">
                <a:solidFill>
                  <a:srgbClr val="536174"/>
                </a:solidFill>
              </a:defRPr>
            </a:pPr>
            <a:r>
              <a:rPr sz="975" b="1">
                <a:solidFill>
                  <a:srgbClr val="536174"/>
                </a:solidFill>
              </a:rPr>
              <a:t>05</a:t>
            </a:r>
          </a:p>
        </p:txBody>
      </p:sp>
      <p:pic>
        <p:nvPicPr>
          <p:cNvPr id="5" name="">
            <a:extLst xmlns:a="http://schemas.openxmlformats.org/drawingml/2006/main">
              <a:ext uri="{FF2B5EF4-FFF2-40B4-BE49-F238E27FC236}">
                <a16:creationId xmlns:a16="http://schemas.microsoft.com/office/drawing/2014/main" id="{2632FC0C-9DB1-4C81-BE58-C80E889B067C}"/>
              </a:ext>
            </a:extLst>
          </p:cNvPr>
          <p:cNvPicPr>
            <a:picLocks xmlns:a="http://schemas.openxmlformats.org/drawingml/2006/main" noChangeAspect="1"/>
          </p:cNvPicPr>
          <p:nvPr/>
        </p:nvPicPr>
        <p:blipFill>
          <a:blip xmlns:r="http://schemas.openxmlformats.org/officeDocument/2006/relationships" xmlns:a="http://schemas.openxmlformats.org/drawingml/2006/main" r:embed="R3fa65cc59e824427"/>
          <a:stretch xmlns:a="http://schemas.openxmlformats.org/drawingml/2006/main"/>
        </p:blipFill>
        <p:spPr>
          <a:xfrm xmlns:a="http://schemas.openxmlformats.org/drawingml/2006/main">
            <a:off x="666750" y="1899047"/>
            <a:ext cx="5048250" cy="315515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85F004F-2743-41AD-A53F-C57CD8DD7D24}"/>
              </a:ext>
            </a:extLst>
          </p:cNvPr>
          <p:cNvSpPr>
            <a:spLocks xmlns:a="http://schemas.openxmlformats.org/drawingml/2006/main" noGrp="1"/>
          </p:cNvSpPr>
          <p:nvPr/>
        </p:nvSpPr>
        <p:spPr>
          <a:xfrm xmlns:a="http://schemas.openxmlformats.org/drawingml/2006/main">
            <a:off x="6477000" y="1809750"/>
            <a:ext cx="2286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F766E"/>
                </a:solidFill>
              </a:defRPr>
            </a:defPPr>
          </a:lstStyle>
          <a:p xmlns:a="http://schemas.openxmlformats.org/drawingml/2006/main">
            <a:pPr>
              <a:defRPr sz="1875" b="1">
                <a:solidFill>
                  <a:srgbClr val="0F766E"/>
                </a:solidFill>
              </a:defRPr>
            </a:pPr>
            <a:r>
              <a:rPr sz="1875" b="1">
                <a:solidFill>
                  <a:srgbClr val="0F766E"/>
                </a:solidFill>
              </a:rPr>
              <a:t>Linear SVM</a:t>
            </a:r>
          </a:p>
        </p:txBody>
      </p:sp>
      <p:sp>
        <p:nvSpPr>
          <p:cNvPr id="7" name="">
            <a:extLst xmlns:a="http://schemas.openxmlformats.org/drawingml/2006/main">
              <a:ext uri="{FF2B5EF4-FFF2-40B4-BE49-F238E27FC236}">
                <a16:creationId xmlns:a16="http://schemas.microsoft.com/office/drawing/2014/main" id="{95A16313-6A86-4051-A2CF-4BA660849537}"/>
              </a:ext>
            </a:extLst>
          </p:cNvPr>
          <p:cNvSpPr>
            <a:spLocks xmlns:a="http://schemas.openxmlformats.org/drawingml/2006/main" noGrp="1"/>
          </p:cNvSpPr>
          <p:nvPr/>
        </p:nvSpPr>
        <p:spPr>
          <a:xfrm xmlns:a="http://schemas.openxmlformats.org/drawingml/2006/main">
            <a:off x="6477000" y="219075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72033"/>
                </a:solidFill>
              </a:defRPr>
            </a:defPPr>
          </a:lstStyle>
          <a:p xmlns:a="http://schemas.openxmlformats.org/drawingml/2006/main">
            <a:pPr>
              <a:defRPr sz="1425" b="0">
                <a:solidFill>
                  <a:srgbClr val="172033"/>
                </a:solidFill>
              </a:defRPr>
            </a:pPr>
            <a:r>
              <a:rPr sz="1425" b="0">
                <a:solidFill>
                  <a:srgbClr val="172033"/>
                </a:solidFill>
              </a:rPr>
              <a:t>98.61% accuracy | 97.90% F1 | 99.86% ROC-AUC</a:t>
            </a:r>
          </a:p>
        </p:txBody>
      </p:sp>
      <p:sp>
        <p:nvSpPr>
          <p:cNvPr id="8" name="">
            <a:extLst xmlns:a="http://schemas.openxmlformats.org/drawingml/2006/main">
              <a:ext uri="{FF2B5EF4-FFF2-40B4-BE49-F238E27FC236}">
                <a16:creationId xmlns:a16="http://schemas.microsoft.com/office/drawing/2014/main" id="{20E13210-EED2-4DC0-B512-EC2F67553D37}"/>
              </a:ext>
            </a:extLst>
          </p:cNvPr>
          <p:cNvSpPr>
            <a:spLocks xmlns:a="http://schemas.openxmlformats.org/drawingml/2006/main" noGrp="1"/>
          </p:cNvSpPr>
          <p:nvPr/>
        </p:nvSpPr>
        <p:spPr>
          <a:xfrm xmlns:a="http://schemas.openxmlformats.org/drawingml/2006/main">
            <a:off x="6477000" y="2905125"/>
            <a:ext cx="285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F766E"/>
                </a:solidFill>
              </a:defRPr>
            </a:defPPr>
          </a:lstStyle>
          <a:p xmlns:a="http://schemas.openxmlformats.org/drawingml/2006/main">
            <a:pPr>
              <a:defRPr sz="1875" b="1">
                <a:solidFill>
                  <a:srgbClr val="0F766E"/>
                </a:solidFill>
              </a:defRPr>
            </a:pPr>
            <a:r>
              <a:rPr sz="1875" b="1">
                <a:solidFill>
                  <a:srgbClr val="0F766E"/>
                </a:solidFill>
              </a:rPr>
              <a:t>Logistic Regression</a:t>
            </a:r>
          </a:p>
        </p:txBody>
      </p:sp>
      <p:sp>
        <p:nvSpPr>
          <p:cNvPr id="9" name="">
            <a:extLst xmlns:a="http://schemas.openxmlformats.org/drawingml/2006/main">
              <a:ext uri="{FF2B5EF4-FFF2-40B4-BE49-F238E27FC236}">
                <a16:creationId xmlns:a16="http://schemas.microsoft.com/office/drawing/2014/main" id="{2E0BF35E-15CF-4034-9916-33CBFEA039B2}"/>
              </a:ext>
            </a:extLst>
          </p:cNvPr>
          <p:cNvSpPr>
            <a:spLocks xmlns:a="http://schemas.openxmlformats.org/drawingml/2006/main" noGrp="1"/>
          </p:cNvSpPr>
          <p:nvPr/>
        </p:nvSpPr>
        <p:spPr>
          <a:xfrm xmlns:a="http://schemas.openxmlformats.org/drawingml/2006/main">
            <a:off x="6477000" y="328612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72033"/>
                </a:solidFill>
              </a:defRPr>
            </a:defPPr>
          </a:lstStyle>
          <a:p xmlns:a="http://schemas.openxmlformats.org/drawingml/2006/main">
            <a:pPr>
              <a:defRPr sz="1425" b="0">
                <a:solidFill>
                  <a:srgbClr val="172033"/>
                </a:solidFill>
              </a:defRPr>
            </a:pPr>
            <a:r>
              <a:rPr sz="1425" b="0">
                <a:solidFill>
                  <a:srgbClr val="172033"/>
                </a:solidFill>
              </a:rPr>
              <a:t>98.53% accuracy | 97.77% F1 | 99.87% ROC-AUC</a:t>
            </a:r>
          </a:p>
        </p:txBody>
      </p:sp>
      <p:sp>
        <p:nvSpPr>
          <p:cNvPr id="10" name="">
            <a:extLst xmlns:a="http://schemas.openxmlformats.org/drawingml/2006/main">
              <a:ext uri="{FF2B5EF4-FFF2-40B4-BE49-F238E27FC236}">
                <a16:creationId xmlns:a16="http://schemas.microsoft.com/office/drawing/2014/main" id="{D2815711-3677-4FBA-A1E3-1417C248898A}"/>
              </a:ext>
            </a:extLst>
          </p:cNvPr>
          <p:cNvSpPr>
            <a:spLocks xmlns:a="http://schemas.openxmlformats.org/drawingml/2006/main" noGrp="1"/>
          </p:cNvSpPr>
          <p:nvPr/>
        </p:nvSpPr>
        <p:spPr>
          <a:xfrm xmlns:a="http://schemas.openxmlformats.org/drawingml/2006/main">
            <a:off x="6477000" y="4000500"/>
            <a:ext cx="2095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F766E"/>
                </a:solidFill>
              </a:defRPr>
            </a:defPPr>
          </a:lstStyle>
          <a:p xmlns:a="http://schemas.openxmlformats.org/drawingml/2006/main">
            <a:pPr>
              <a:defRPr sz="1875" b="1">
                <a:solidFill>
                  <a:srgbClr val="0F766E"/>
                </a:solidFill>
              </a:defRPr>
            </a:pPr>
            <a:r>
              <a:rPr sz="1875" b="1">
                <a:solidFill>
                  <a:srgbClr val="0F766E"/>
                </a:solidFill>
              </a:rPr>
              <a:t>XGBoost</a:t>
            </a:r>
          </a:p>
        </p:txBody>
      </p:sp>
      <p:sp>
        <p:nvSpPr>
          <p:cNvPr id="11" name="">
            <a:extLst xmlns:a="http://schemas.openxmlformats.org/drawingml/2006/main">
              <a:ext uri="{FF2B5EF4-FFF2-40B4-BE49-F238E27FC236}">
                <a16:creationId xmlns:a16="http://schemas.microsoft.com/office/drawing/2014/main" id="{009B5923-63EC-4DD9-B819-68E70509BD82}"/>
              </a:ext>
            </a:extLst>
          </p:cNvPr>
          <p:cNvSpPr>
            <a:spLocks xmlns:a="http://schemas.openxmlformats.org/drawingml/2006/main" noGrp="1"/>
          </p:cNvSpPr>
          <p:nvPr/>
        </p:nvSpPr>
        <p:spPr>
          <a:xfrm xmlns:a="http://schemas.openxmlformats.org/drawingml/2006/main">
            <a:off x="6477000" y="438150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72033"/>
                </a:solidFill>
              </a:defRPr>
            </a:defPPr>
          </a:lstStyle>
          <a:p xmlns:a="http://schemas.openxmlformats.org/drawingml/2006/main">
            <a:pPr>
              <a:defRPr sz="1425" b="0">
                <a:solidFill>
                  <a:srgbClr val="172033"/>
                </a:solidFill>
              </a:defRPr>
            </a:pPr>
            <a:r>
              <a:rPr sz="1425" b="0">
                <a:solidFill>
                  <a:srgbClr val="172033"/>
                </a:solidFill>
              </a:rPr>
              <a:t>96.95% accuracy | 95.43% F1 | 99.43% ROC-AUC</a:t>
            </a:r>
          </a:p>
        </p:txBody>
      </p:sp>
      <p:sp>
        <p:nvSpPr>
          <p:cNvPr id="12" name="">
            <a:extLst xmlns:a="http://schemas.openxmlformats.org/drawingml/2006/main">
              <a:ext uri="{FF2B5EF4-FFF2-40B4-BE49-F238E27FC236}">
                <a16:creationId xmlns:a16="http://schemas.microsoft.com/office/drawing/2014/main" id="{D46D97BF-5914-4851-8C47-B317B00808B9}"/>
              </a:ext>
            </a:extLst>
          </p:cNvPr>
          <p:cNvSpPr>
            <a:spLocks xmlns:a="http://schemas.openxmlformats.org/drawingml/2006/main" noGrp="1"/>
          </p:cNvSpPr>
          <p:nvPr/>
        </p:nvSpPr>
        <p:spPr>
          <a:xfrm xmlns:a="http://schemas.openxmlformats.org/drawingml/2006/main">
            <a:off x="762000" y="5715000"/>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F172A"/>
                </a:solidFill>
              </a:defRPr>
            </a:defPPr>
          </a:lstStyle>
          <a:p xmlns:a="http://schemas.openxmlformats.org/drawingml/2006/main">
            <a:pPr>
              <a:defRPr sz="1425" b="1">
                <a:solidFill>
                  <a:srgbClr val="0F172A"/>
                </a:solidFill>
              </a:defRPr>
            </a:pPr>
            <a:r>
              <a:rPr sz="1425" b="1">
                <a:solidFill>
                  <a:srgbClr val="0F172A"/>
                </a:solidFill>
              </a:rPr>
              <a:t>McNemar: SVM vs LR p = 0.1443. The difference is not statistically significant. Both linear models significantly outperform XGBoost.</a:t>
            </a:r>
          </a:p>
        </p:txBody>
      </p:sp>
    </p:spTree>
    <p:extLst>
      <p:ext uri="{BB962C8B-B14F-4D97-AF65-F5344CB8AC3E}">
        <p14:creationId xmlns:p14="http://schemas.microsoft.com/office/powerpoint/2010/main" val="1122132635"/>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DD7AD8D-7713-4CC8-A4F7-1C1701B3AEB4}"/>
              </a:ext>
            </a:extLst>
          </p:cNvPr>
          <p:cNvSpPr>
            <a:spLocks xmlns:a="http://schemas.openxmlformats.org/drawingml/2006/main" noGrp="1"/>
          </p:cNvSpPr>
          <p:nvPr/>
        </p:nvSpPr>
        <p:spPr>
          <a:xfrm xmlns:a="http://schemas.openxmlformats.org/drawingml/2006/main">
            <a:off x="666750" y="523875"/>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0F172A"/>
                </a:solidFill>
              </a:defRPr>
            </a:defPPr>
          </a:lstStyle>
          <a:p xmlns:a="http://schemas.openxmlformats.org/drawingml/2006/main">
            <a:pPr>
              <a:defRPr sz="2550" b="1">
                <a:solidFill>
                  <a:srgbClr val="0F172A"/>
                </a:solidFill>
              </a:defRPr>
            </a:pPr>
            <a:r>
              <a:rPr sz="2550" b="1">
                <a:solidFill>
                  <a:srgbClr val="0F172A"/>
                </a:solidFill>
              </a:rPr>
              <a:t>Explainability and error analysis</a:t>
            </a:r>
          </a:p>
        </p:txBody>
      </p:sp>
      <p:sp>
        <p:nvSpPr>
          <p:cNvPr id="2" name="">
            <a:extLst xmlns:a="http://schemas.openxmlformats.org/drawingml/2006/main">
              <a:ext uri="{FF2B5EF4-FFF2-40B4-BE49-F238E27FC236}">
                <a16:creationId xmlns:a16="http://schemas.microsoft.com/office/drawing/2014/main" id="{AE237875-810F-4246-9727-D16F7D9CAA81}"/>
              </a:ext>
            </a:extLst>
          </p:cNvPr>
          <p:cNvSpPr>
            <a:spLocks xmlns:a="http://schemas.openxmlformats.org/drawingml/2006/main" noGrp="1"/>
          </p:cNvSpPr>
          <p:nvPr/>
        </p:nvSpPr>
        <p:spPr>
          <a:xfrm xmlns:a="http://schemas.openxmlformats.org/drawingml/2006/main">
            <a:off x="685800" y="10668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174"/>
                </a:solidFill>
              </a:defRPr>
            </a:defPPr>
          </a:lstStyle>
          <a:p xmlns:a="http://schemas.openxmlformats.org/drawingml/2006/main">
            <a:pPr>
              <a:defRPr sz="1050" b="0">
                <a:solidFill>
                  <a:srgbClr val="536174"/>
                </a:solidFill>
              </a:defRPr>
            </a:pPr>
            <a:r>
              <a:rPr sz="1050" b="0">
                <a:solidFill>
                  <a:srgbClr val="536174"/>
                </a:solidFill>
              </a:rPr>
              <a:t>PRG4206 Machine Learning | I26043592 — Vishnu Vardhan</a:t>
            </a:r>
          </a:p>
        </p:txBody>
      </p:sp>
      <p:sp>
        <p:nvSpPr>
          <p:cNvPr id="3" name="">
            <a:extLst xmlns:a="http://schemas.openxmlformats.org/drawingml/2006/main">
              <a:ext uri="{FF2B5EF4-FFF2-40B4-BE49-F238E27FC236}">
                <a16:creationId xmlns:a16="http://schemas.microsoft.com/office/drawing/2014/main" id="{EB7C6FBF-1960-4E09-8436-6248D0FB49F0}"/>
              </a:ext>
            </a:extLst>
          </p:cNvPr>
          <p:cNvSpPr>
            <a:spLocks xmlns:a="http://schemas.openxmlformats.org/drawingml/2006/main" noGrp="1"/>
          </p:cNvSpPr>
          <p:nvPr/>
        </p:nvSpPr>
        <p:spPr>
          <a:xfrm xmlns:a="http://schemas.openxmlformats.org/drawingml/2006/main">
            <a:off x="666750" y="1428750"/>
            <a:ext cx="108585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4" name="">
            <a:extLst xmlns:a="http://schemas.openxmlformats.org/drawingml/2006/main">
              <a:ext uri="{FF2B5EF4-FFF2-40B4-BE49-F238E27FC236}">
                <a16:creationId xmlns:a16="http://schemas.microsoft.com/office/drawing/2014/main" id="{0D17D62A-84F4-47DB-87AF-E68E9E94EE2A}"/>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174"/>
                </a:solidFill>
              </a:defRPr>
            </a:defPPr>
          </a:lstStyle>
          <a:p xmlns:a="http://schemas.openxmlformats.org/drawingml/2006/main">
            <a:pPr>
              <a:defRPr sz="975" b="1">
                <a:solidFill>
                  <a:srgbClr val="536174"/>
                </a:solidFill>
              </a:defRPr>
            </a:pPr>
            <a:r>
              <a:rPr sz="975" b="1">
                <a:solidFill>
                  <a:srgbClr val="536174"/>
                </a:solidFill>
              </a:rPr>
              <a:t>06</a:t>
            </a:r>
          </a:p>
        </p:txBody>
      </p:sp>
      <p:pic>
        <p:nvPicPr>
          <p:cNvPr id="5" name="">
            <a:extLst xmlns:a="http://schemas.openxmlformats.org/drawingml/2006/main">
              <a:ext uri="{FF2B5EF4-FFF2-40B4-BE49-F238E27FC236}">
                <a16:creationId xmlns:a16="http://schemas.microsoft.com/office/drawing/2014/main" id="{C9CC1655-9F69-44AF-A066-1C92D6BFE3BC}"/>
              </a:ext>
            </a:extLst>
          </p:cNvPr>
          <p:cNvPicPr>
            <a:picLocks xmlns:a="http://schemas.openxmlformats.org/drawingml/2006/main" noChangeAspect="1"/>
          </p:cNvPicPr>
          <p:nvPr/>
        </p:nvPicPr>
        <p:blipFill>
          <a:blip xmlns:r="http://schemas.openxmlformats.org/officeDocument/2006/relationships" xmlns:a="http://schemas.openxmlformats.org/drawingml/2006/main" r:embed="Rd0159861bf8a44a8"/>
          <a:stretch xmlns:a="http://schemas.openxmlformats.org/drawingml/2006/main"/>
        </p:blipFill>
        <p:spPr>
          <a:xfrm xmlns:a="http://schemas.openxmlformats.org/drawingml/2006/main">
            <a:off x="1456322" y="1762125"/>
            <a:ext cx="3088105" cy="3667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1EC5A2D-F16B-4EDC-A479-53CA70A99B7C}"/>
              </a:ext>
            </a:extLst>
          </p:cNvPr>
          <p:cNvSpPr>
            <a:spLocks xmlns:a="http://schemas.openxmlformats.org/drawingml/2006/main" noGrp="1"/>
          </p:cNvSpPr>
          <p:nvPr/>
        </p:nvSpPr>
        <p:spPr>
          <a:xfrm xmlns:a="http://schemas.openxmlformats.org/drawingml/2006/main">
            <a:off x="6191250" y="1809750"/>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F766E"/>
                </a:solidFill>
              </a:defRPr>
            </a:defPPr>
          </a:lstStyle>
          <a:p xmlns:a="http://schemas.openxmlformats.org/drawingml/2006/main">
            <a:pPr>
              <a:defRPr sz="1950" b="1">
                <a:solidFill>
                  <a:srgbClr val="0F766E"/>
                </a:solidFill>
              </a:defRPr>
            </a:pPr>
            <a:r>
              <a:rPr sz="1950" b="1">
                <a:solidFill>
                  <a:srgbClr val="0F766E"/>
                </a:solidFill>
              </a:rPr>
              <a:t>Top XGBoost features</a:t>
            </a:r>
          </a:p>
        </p:txBody>
      </p:sp>
      <p:sp>
        <p:nvSpPr>
          <p:cNvPr id="7" name="">
            <a:extLst xmlns:a="http://schemas.openxmlformats.org/drawingml/2006/main">
              <a:ext uri="{FF2B5EF4-FFF2-40B4-BE49-F238E27FC236}">
                <a16:creationId xmlns:a16="http://schemas.microsoft.com/office/drawing/2014/main" id="{28DAC500-A94A-495C-9CC4-B9786CDC253D}"/>
              </a:ext>
            </a:extLst>
          </p:cNvPr>
          <p:cNvSpPr>
            <a:spLocks xmlns:a="http://schemas.openxmlformats.org/drawingml/2006/main" noGrp="1"/>
          </p:cNvSpPr>
          <p:nvPr/>
        </p:nvSpPr>
        <p:spPr>
          <a:xfrm xmlns:a="http://schemas.openxmlformats.org/drawingml/2006/main">
            <a:off x="6191250" y="2333625"/>
            <a:ext cx="40005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72033"/>
                </a:solidFill>
              </a:defRPr>
            </a:defPPr>
          </a:lstStyle>
          <a:p xmlns:a="http://schemas.openxmlformats.org/drawingml/2006/main">
            <a:pPr>
              <a:defRPr sz="1425" b="0">
                <a:solidFill>
                  <a:srgbClr val="172033"/>
                </a:solidFill>
              </a:defRPr>
            </a:pPr>
            <a:r>
              <a:rPr sz="1425" b="0">
                <a:solidFill>
                  <a:srgbClr val="172033"/>
                </a:solidFill>
              </a:rPr>
              <a:t>•  Average word length — 22.44%</a:t>
            </a:r>
          </a:p>
          <a:p xmlns:a="http://schemas.openxmlformats.org/drawingml/2006/main">
            <a:r>
              <a:t/>
            </a:r>
          </a:p>
          <a:p xmlns:a="http://schemas.openxmlformats.org/drawingml/2006/main">
            <a:pPr>
              <a:defRPr sz="1425" b="0">
                <a:solidFill>
                  <a:srgbClr val="172033"/>
                </a:solidFill>
              </a:defRPr>
            </a:pPr>
            <a:r>
              <a:rPr sz="1425" b="0">
                <a:solidFill>
                  <a:srgbClr val="172033"/>
                </a:solidFill>
              </a:rPr>
              <a:t>•  Paragraph count — 11.67%</a:t>
            </a:r>
          </a:p>
          <a:p xmlns:a="http://schemas.openxmlformats.org/drawingml/2006/main">
            <a:r>
              <a:t/>
            </a:r>
          </a:p>
          <a:p xmlns:a="http://schemas.openxmlformats.org/drawingml/2006/main">
            <a:pPr>
              <a:defRPr sz="1425" b="0">
                <a:solidFill>
                  <a:srgbClr val="172033"/>
                </a:solidFill>
              </a:defRPr>
            </a:pPr>
            <a:r>
              <a:rPr sz="1425" b="0">
                <a:solidFill>
                  <a:srgbClr val="172033"/>
                </a:solidFill>
              </a:rPr>
              <a:t>•  Unique-word ratio — 11.52%</a:t>
            </a:r>
          </a:p>
          <a:p xmlns:a="http://schemas.openxmlformats.org/drawingml/2006/main">
            <a:r>
              <a:t/>
            </a:r>
          </a:p>
          <a:p xmlns:a="http://schemas.openxmlformats.org/drawingml/2006/main">
            <a:pPr>
              <a:defRPr sz="1425" b="0">
                <a:solidFill>
                  <a:srgbClr val="172033"/>
                </a:solidFill>
              </a:defRPr>
            </a:pPr>
            <a:r>
              <a:rPr sz="1425" b="0">
                <a:solidFill>
                  <a:srgbClr val="172033"/>
                </a:solidFill>
              </a:rPr>
              <a:t>•  Type-token ratio — 6.40%</a:t>
            </a:r>
          </a:p>
          <a:p xmlns:a="http://schemas.openxmlformats.org/drawingml/2006/main">
            <a:r>
              <a:t/>
            </a:r>
          </a:p>
          <a:p xmlns:a="http://schemas.openxmlformats.org/drawingml/2006/main">
            <a:pPr>
              <a:defRPr sz="1425" b="0">
                <a:solidFill>
                  <a:srgbClr val="172033"/>
                </a:solidFill>
              </a:defRPr>
            </a:pPr>
            <a:r>
              <a:rPr sz="1425" b="0">
                <a:solidFill>
                  <a:srgbClr val="172033"/>
                </a:solidFill>
              </a:rPr>
              <a:t>•  Character count — 5.44%</a:t>
            </a:r>
          </a:p>
        </p:txBody>
      </p:sp>
      <p:sp>
        <p:nvSpPr>
          <p:cNvPr id="8" name="">
            <a:extLst xmlns:a="http://schemas.openxmlformats.org/drawingml/2006/main">
              <a:ext uri="{FF2B5EF4-FFF2-40B4-BE49-F238E27FC236}">
                <a16:creationId xmlns:a16="http://schemas.microsoft.com/office/drawing/2014/main" id="{6BFD999A-2D67-453E-B3BF-CBD8C3EF6C23}"/>
              </a:ext>
            </a:extLst>
          </p:cNvPr>
          <p:cNvSpPr>
            <a:spLocks xmlns:a="http://schemas.openxmlformats.org/drawingml/2006/main" noGrp="1"/>
          </p:cNvSpPr>
          <p:nvPr/>
        </p:nvSpPr>
        <p:spPr>
          <a:xfrm xmlns:a="http://schemas.openxmlformats.org/drawingml/2006/main">
            <a:off x="6191250" y="4524375"/>
            <a:ext cx="4476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172033"/>
                </a:solidFill>
              </a:defRPr>
            </a:defPPr>
          </a:lstStyle>
          <a:p xmlns:a="http://schemas.openxmlformats.org/drawingml/2006/main">
            <a:pPr>
              <a:defRPr sz="1275" b="0">
                <a:solidFill>
                  <a:srgbClr val="172033"/>
                </a:solidFill>
              </a:defRPr>
            </a:pPr>
            <a:r>
              <a:rPr sz="1275" b="0">
                <a:solidFill>
                  <a:srgbClr val="172033"/>
                </a:solidFill>
              </a:rPr>
              <a:t>AI-associated patterns: “in summary”, “furthermore”, “overall”, “important to note”. Human-associated patterns: contractions, informal expressions, “ts;dr”, “lol”, emotional punctuation.</a:t>
            </a:r>
          </a:p>
        </p:txBody>
      </p:sp>
      <p:sp>
        <p:nvSpPr>
          <p:cNvPr id="9" name="">
            <a:extLst xmlns:a="http://schemas.openxmlformats.org/drawingml/2006/main">
              <a:ext uri="{FF2B5EF4-FFF2-40B4-BE49-F238E27FC236}">
                <a16:creationId xmlns:a16="http://schemas.microsoft.com/office/drawing/2014/main" id="{FDCDC893-F879-4D5B-9273-D75DDBDA4358}"/>
              </a:ext>
            </a:extLst>
          </p:cNvPr>
          <p:cNvSpPr>
            <a:spLocks xmlns:a="http://schemas.openxmlformats.org/drawingml/2006/main" noGrp="1"/>
          </p:cNvSpPr>
          <p:nvPr/>
        </p:nvSpPr>
        <p:spPr>
          <a:xfrm xmlns:a="http://schemas.openxmlformats.org/drawingml/2006/main">
            <a:off x="6191250" y="5762625"/>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F172A"/>
                </a:solidFill>
              </a:defRPr>
            </a:defPPr>
          </a:lstStyle>
          <a:p xmlns:a="http://schemas.openxmlformats.org/drawingml/2006/main">
            <a:pPr>
              <a:defRPr sz="1200" b="1">
                <a:solidFill>
                  <a:srgbClr val="0F172A"/>
                </a:solidFill>
              </a:defRPr>
            </a:pPr>
            <a:r>
              <a:rPr sz="1200" b="1">
                <a:solidFill>
                  <a:srgbClr val="0F172A"/>
                </a:solidFill>
              </a:rPr>
              <a:t>These are model-associated patterns, not proof that a phrase is always AI-generated.</a:t>
            </a:r>
          </a:p>
        </p:txBody>
      </p:sp>
    </p:spTree>
    <p:extLst>
      <p:ext uri="{BB962C8B-B14F-4D97-AF65-F5344CB8AC3E}">
        <p14:creationId xmlns:p14="http://schemas.microsoft.com/office/powerpoint/2010/main" val="736816837"/>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EB38878-F4E9-4112-8D0B-082007688E42}"/>
              </a:ext>
            </a:extLst>
          </p:cNvPr>
          <p:cNvSpPr>
            <a:spLocks xmlns:a="http://schemas.openxmlformats.org/drawingml/2006/main" noGrp="1"/>
          </p:cNvSpPr>
          <p:nvPr/>
        </p:nvSpPr>
        <p:spPr>
          <a:xfrm xmlns:a="http://schemas.openxmlformats.org/drawingml/2006/main">
            <a:off x="666750" y="523875"/>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0F172A"/>
                </a:solidFill>
              </a:defRPr>
            </a:defPPr>
          </a:lstStyle>
          <a:p xmlns:a="http://schemas.openxmlformats.org/drawingml/2006/main">
            <a:pPr>
              <a:defRPr sz="2550" b="1">
                <a:solidFill>
                  <a:srgbClr val="0F172A"/>
                </a:solidFill>
              </a:defRPr>
            </a:pPr>
            <a:r>
              <a:rPr sz="2550" b="1">
                <a:solidFill>
                  <a:srgbClr val="0F172A"/>
                </a:solidFill>
              </a:rPr>
              <a:t>Live prototype demonstration</a:t>
            </a:r>
          </a:p>
        </p:txBody>
      </p:sp>
      <p:sp>
        <p:nvSpPr>
          <p:cNvPr id="2" name="">
            <a:extLst xmlns:a="http://schemas.openxmlformats.org/drawingml/2006/main">
              <a:ext uri="{FF2B5EF4-FFF2-40B4-BE49-F238E27FC236}">
                <a16:creationId xmlns:a16="http://schemas.microsoft.com/office/drawing/2014/main" id="{A49F2C84-141C-4C04-AA7D-6B35EC8B95E1}"/>
              </a:ext>
            </a:extLst>
          </p:cNvPr>
          <p:cNvSpPr>
            <a:spLocks xmlns:a="http://schemas.openxmlformats.org/drawingml/2006/main" noGrp="1"/>
          </p:cNvSpPr>
          <p:nvPr/>
        </p:nvSpPr>
        <p:spPr>
          <a:xfrm xmlns:a="http://schemas.openxmlformats.org/drawingml/2006/main">
            <a:off x="685800" y="10668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174"/>
                </a:solidFill>
              </a:defRPr>
            </a:defPPr>
          </a:lstStyle>
          <a:p xmlns:a="http://schemas.openxmlformats.org/drawingml/2006/main">
            <a:pPr>
              <a:defRPr sz="1050" b="0">
                <a:solidFill>
                  <a:srgbClr val="536174"/>
                </a:solidFill>
              </a:defRPr>
            </a:pPr>
            <a:r>
              <a:rPr sz="1050" b="0">
                <a:solidFill>
                  <a:srgbClr val="536174"/>
                </a:solidFill>
              </a:rPr>
              <a:t>PRG4206 Machine Learning | I26043592 — Vishnu Vardhan</a:t>
            </a:r>
          </a:p>
        </p:txBody>
      </p:sp>
      <p:sp>
        <p:nvSpPr>
          <p:cNvPr id="3" name="">
            <a:extLst xmlns:a="http://schemas.openxmlformats.org/drawingml/2006/main">
              <a:ext uri="{FF2B5EF4-FFF2-40B4-BE49-F238E27FC236}">
                <a16:creationId xmlns:a16="http://schemas.microsoft.com/office/drawing/2014/main" id="{E919D819-FFA1-47A2-8F36-89CDC554677C}"/>
              </a:ext>
            </a:extLst>
          </p:cNvPr>
          <p:cNvSpPr>
            <a:spLocks xmlns:a="http://schemas.openxmlformats.org/drawingml/2006/main" noGrp="1"/>
          </p:cNvSpPr>
          <p:nvPr/>
        </p:nvSpPr>
        <p:spPr>
          <a:xfrm xmlns:a="http://schemas.openxmlformats.org/drawingml/2006/main">
            <a:off x="666750" y="1428750"/>
            <a:ext cx="108585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4" name="">
            <a:extLst xmlns:a="http://schemas.openxmlformats.org/drawingml/2006/main">
              <a:ext uri="{FF2B5EF4-FFF2-40B4-BE49-F238E27FC236}">
                <a16:creationId xmlns:a16="http://schemas.microsoft.com/office/drawing/2014/main" id="{C0CABFCE-4F68-4417-8BFC-E6D7617DFCEB}"/>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174"/>
                </a:solidFill>
              </a:defRPr>
            </a:defPPr>
          </a:lstStyle>
          <a:p xmlns:a="http://schemas.openxmlformats.org/drawingml/2006/main">
            <a:pPr>
              <a:defRPr sz="975" b="1">
                <a:solidFill>
                  <a:srgbClr val="536174"/>
                </a:solidFill>
              </a:defRPr>
            </a:pPr>
            <a:r>
              <a:rPr sz="975" b="1">
                <a:solidFill>
                  <a:srgbClr val="536174"/>
                </a:solidFill>
              </a:rPr>
              <a:t>07</a:t>
            </a:r>
          </a:p>
        </p:txBody>
      </p:sp>
      <p:sp>
        <p:nvSpPr>
          <p:cNvPr id="5" name="">
            <a:extLst xmlns:a="http://schemas.openxmlformats.org/drawingml/2006/main">
              <a:ext uri="{FF2B5EF4-FFF2-40B4-BE49-F238E27FC236}">
                <a16:creationId xmlns:a16="http://schemas.microsoft.com/office/drawing/2014/main" id="{666466A7-A331-4CA0-A599-C64481F7A17A}"/>
              </a:ext>
            </a:extLst>
          </p:cNvPr>
          <p:cNvSpPr>
            <a:spLocks xmlns:a="http://schemas.openxmlformats.org/drawingml/2006/main" noGrp="1"/>
          </p:cNvSpPr>
          <p:nvPr/>
        </p:nvSpPr>
        <p:spPr>
          <a:xfrm xmlns:a="http://schemas.openxmlformats.org/drawingml/2006/main">
            <a:off x="838200" y="1809750"/>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F766E"/>
                </a:solidFill>
              </a:defRPr>
            </a:defPPr>
          </a:lstStyle>
          <a:p xmlns:a="http://schemas.openxmlformats.org/drawingml/2006/main">
            <a:pPr>
              <a:defRPr sz="2025" b="1">
                <a:solidFill>
                  <a:srgbClr val="0F766E"/>
                </a:solidFill>
              </a:defRPr>
            </a:pPr>
            <a:r>
              <a:rPr sz="2025" b="1">
                <a:solidFill>
                  <a:srgbClr val="0F766E"/>
                </a:solidFill>
              </a:rPr>
              <a:t>Demo sequence</a:t>
            </a:r>
          </a:p>
        </p:txBody>
      </p:sp>
      <p:sp>
        <p:nvSpPr>
          <p:cNvPr id="6" name="">
            <a:extLst xmlns:a="http://schemas.openxmlformats.org/drawingml/2006/main">
              <a:ext uri="{FF2B5EF4-FFF2-40B4-BE49-F238E27FC236}">
                <a16:creationId xmlns:a16="http://schemas.microsoft.com/office/drawing/2014/main" id="{BEF54105-344D-41B3-A7A2-E37D73204389}"/>
              </a:ext>
            </a:extLst>
          </p:cNvPr>
          <p:cNvSpPr>
            <a:spLocks xmlns:a="http://schemas.openxmlformats.org/drawingml/2006/main" noGrp="1"/>
          </p:cNvSpPr>
          <p:nvPr/>
        </p:nvSpPr>
        <p:spPr>
          <a:xfrm xmlns:a="http://schemas.openxmlformats.org/drawingml/2006/main">
            <a:off x="838200" y="2381250"/>
            <a:ext cx="51435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72033"/>
                </a:solidFill>
              </a:defRPr>
            </a:defPPr>
          </a:lstStyle>
          <a:p xmlns:a="http://schemas.openxmlformats.org/drawingml/2006/main">
            <a:pPr>
              <a:defRPr sz="1575" b="0">
                <a:solidFill>
                  <a:srgbClr val="172033"/>
                </a:solidFill>
              </a:defRPr>
            </a:pPr>
            <a:r>
              <a:rPr sz="1575" b="0">
                <a:solidFill>
                  <a:srgbClr val="172033"/>
                </a:solidFill>
              </a:rPr>
              <a:t>•  Select the active model</a:t>
            </a:r>
          </a:p>
          <a:p xmlns:a="http://schemas.openxmlformats.org/drawingml/2006/main">
            <a:r>
              <a:t/>
            </a:r>
          </a:p>
          <a:p xmlns:a="http://schemas.openxmlformats.org/drawingml/2006/main">
            <a:pPr>
              <a:defRPr sz="1575" b="0">
                <a:solidFill>
                  <a:srgbClr val="172033"/>
                </a:solidFill>
              </a:defRPr>
            </a:pPr>
            <a:r>
              <a:rPr sz="1575" b="0">
                <a:solidFill>
                  <a:srgbClr val="172033"/>
                </a:solidFill>
              </a:rPr>
              <a:t>•  Test an informal human-style passage</a:t>
            </a:r>
          </a:p>
          <a:p xmlns:a="http://schemas.openxmlformats.org/drawingml/2006/main">
            <a:r>
              <a:t/>
            </a:r>
          </a:p>
          <a:p xmlns:a="http://schemas.openxmlformats.org/drawingml/2006/main">
            <a:pPr>
              <a:defRPr sz="1575" b="0">
                <a:solidFill>
                  <a:srgbClr val="172033"/>
                </a:solidFill>
              </a:defRPr>
            </a:pPr>
            <a:r>
              <a:rPr sz="1575" b="0">
                <a:solidFill>
                  <a:srgbClr val="172033"/>
                </a:solidFill>
              </a:rPr>
              <a:t>•  Test the supplied structured passage</a:t>
            </a:r>
          </a:p>
          <a:p xmlns:a="http://schemas.openxmlformats.org/drawingml/2006/main">
            <a:r>
              <a:t/>
            </a:r>
          </a:p>
          <a:p xmlns:a="http://schemas.openxmlformats.org/drawingml/2006/main">
            <a:pPr>
              <a:defRPr sz="1575" b="0">
                <a:solidFill>
                  <a:srgbClr val="172033"/>
                </a:solidFill>
              </a:defRPr>
            </a:pPr>
            <a:r>
              <a:rPr sz="1575" b="0">
                <a:solidFill>
                  <a:srgbClr val="172033"/>
                </a:solidFill>
              </a:rPr>
              <a:t>•  Switch among SVM, Logistic Regression, and XGBoost</a:t>
            </a:r>
          </a:p>
          <a:p xmlns:a="http://schemas.openxmlformats.org/drawingml/2006/main">
            <a:r>
              <a:t/>
            </a:r>
          </a:p>
          <a:p xmlns:a="http://schemas.openxmlformats.org/drawingml/2006/main">
            <a:pPr>
              <a:defRPr sz="1575" b="0">
                <a:solidFill>
                  <a:srgbClr val="172033"/>
                </a:solidFill>
              </a:defRPr>
            </a:pPr>
            <a:r>
              <a:rPr sz="1575" b="0">
                <a:solidFill>
                  <a:srgbClr val="172033"/>
                </a:solidFill>
              </a:rPr>
              <a:t>•  Inspect prediction, confidence, statistics, and available word-level explanation</a:t>
            </a:r>
          </a:p>
        </p:txBody>
      </p:sp>
      <p:sp>
        <p:nvSpPr>
          <p:cNvPr id="7" name="">
            <a:extLst xmlns:a="http://schemas.openxmlformats.org/drawingml/2006/main">
              <a:ext uri="{FF2B5EF4-FFF2-40B4-BE49-F238E27FC236}">
                <a16:creationId xmlns:a16="http://schemas.microsoft.com/office/drawing/2014/main" id="{079E7B1A-D6A4-4AA1-B794-5FA1B4EF559F}"/>
              </a:ext>
            </a:extLst>
          </p:cNvPr>
          <p:cNvSpPr>
            <a:spLocks xmlns:a="http://schemas.openxmlformats.org/drawingml/2006/main" noGrp="1"/>
          </p:cNvSpPr>
          <p:nvPr/>
        </p:nvSpPr>
        <p:spPr>
          <a:xfrm xmlns:a="http://schemas.openxmlformats.org/drawingml/2006/main">
            <a:off x="7048500" y="18097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F766E"/>
                </a:solidFill>
              </a:defRPr>
            </a:defPPr>
          </a:lstStyle>
          <a:p xmlns:a="http://schemas.openxmlformats.org/drawingml/2006/main">
            <a:pPr>
              <a:defRPr sz="2025" b="1">
                <a:solidFill>
                  <a:srgbClr val="0F766E"/>
                </a:solidFill>
              </a:defRPr>
            </a:pPr>
            <a:r>
              <a:rPr sz="2025" b="1">
                <a:solidFill>
                  <a:srgbClr val="0F766E"/>
                </a:solidFill>
              </a:rPr>
              <a:t>Important demo note</a:t>
            </a:r>
          </a:p>
        </p:txBody>
      </p:sp>
      <p:sp>
        <p:nvSpPr>
          <p:cNvPr id="8" name="">
            <a:extLst xmlns:a="http://schemas.openxmlformats.org/drawingml/2006/main">
              <a:ext uri="{FF2B5EF4-FFF2-40B4-BE49-F238E27FC236}">
                <a16:creationId xmlns:a16="http://schemas.microsoft.com/office/drawing/2014/main" id="{9289F837-372A-4C35-B16A-478CA94DB4CC}"/>
              </a:ext>
            </a:extLst>
          </p:cNvPr>
          <p:cNvSpPr>
            <a:spLocks xmlns:a="http://schemas.openxmlformats.org/drawingml/2006/main" noGrp="1"/>
          </p:cNvSpPr>
          <p:nvPr/>
        </p:nvSpPr>
        <p:spPr>
          <a:xfrm xmlns:a="http://schemas.openxmlformats.org/drawingml/2006/main">
            <a:off x="7048500" y="2381250"/>
            <a:ext cx="3714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F172A"/>
                </a:solidFill>
              </a:defRPr>
            </a:defPPr>
          </a:lstStyle>
          <a:p xmlns:a="http://schemas.openxmlformats.org/drawingml/2006/main">
            <a:pPr>
              <a:defRPr sz="1650" b="1">
                <a:solidFill>
                  <a:srgbClr val="0F172A"/>
                </a:solidFill>
              </a:defRPr>
            </a:pPr>
            <a:r>
              <a:rPr sz="1650" b="1">
                <a:solidFill>
                  <a:srgbClr val="0F172A"/>
                </a:solidFill>
              </a:rPr>
              <a:t>Show the model’s actual output. In verification, the supplied structured sample is classified as Human-Written by all three saved models. Do not describe it as a successful AI detection.</a:t>
            </a:r>
          </a:p>
        </p:txBody>
      </p:sp>
      <p:sp>
        <p:nvSpPr>
          <p:cNvPr id="9" name="">
            <a:extLst xmlns:a="http://schemas.openxmlformats.org/drawingml/2006/main">
              <a:ext uri="{FF2B5EF4-FFF2-40B4-BE49-F238E27FC236}">
                <a16:creationId xmlns:a16="http://schemas.microsoft.com/office/drawing/2014/main" id="{81308FE1-6DF6-4FEC-A23A-213CE0CC115E}"/>
              </a:ext>
            </a:extLst>
          </p:cNvPr>
          <p:cNvSpPr>
            <a:spLocks xmlns:a="http://schemas.openxmlformats.org/drawingml/2006/main" noGrp="1"/>
          </p:cNvSpPr>
          <p:nvPr/>
        </p:nvSpPr>
        <p:spPr>
          <a:xfrm xmlns:a="http://schemas.openxmlformats.org/drawingml/2006/main">
            <a:off x="7048500" y="4572000"/>
            <a:ext cx="3714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174"/>
                </a:solidFill>
              </a:defRPr>
            </a:defPPr>
          </a:lstStyle>
          <a:p xmlns:a="http://schemas.openxmlformats.org/drawingml/2006/main">
            <a:pPr>
              <a:defRPr sz="1350" b="0">
                <a:solidFill>
                  <a:srgbClr val="536174"/>
                </a:solidFill>
              </a:defRPr>
            </a:pPr>
            <a:r>
              <a:rPr sz="1350" b="0">
                <a:solidFill>
                  <a:srgbClr val="536174"/>
                </a:solidFill>
              </a:rPr>
              <a:t>Use the Streamlit application for this section. The deck intentionally does not fabricate app screenshots or prediction outcomes.</a:t>
            </a:r>
          </a:p>
        </p:txBody>
      </p:sp>
    </p:spTree>
    <p:extLst>
      <p:ext uri="{BB962C8B-B14F-4D97-AF65-F5344CB8AC3E}">
        <p14:creationId xmlns:p14="http://schemas.microsoft.com/office/powerpoint/2010/main" val="806751153"/>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28EBD1-BA0A-4B28-AEC9-718529E5E5A1}"/>
              </a:ext>
            </a:extLst>
          </p:cNvPr>
          <p:cNvSpPr>
            <a:spLocks xmlns:a="http://schemas.openxmlformats.org/drawingml/2006/main" noGrp="1"/>
          </p:cNvSpPr>
          <p:nvPr/>
        </p:nvSpPr>
        <p:spPr>
          <a:xfrm xmlns:a="http://schemas.openxmlformats.org/drawingml/2006/main">
            <a:off x="666750" y="523875"/>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0F172A"/>
                </a:solidFill>
              </a:defRPr>
            </a:defPPr>
          </a:lstStyle>
          <a:p xmlns:a="http://schemas.openxmlformats.org/drawingml/2006/main">
            <a:pPr>
              <a:defRPr sz="2550" b="1">
                <a:solidFill>
                  <a:srgbClr val="0F172A"/>
                </a:solidFill>
              </a:defRPr>
            </a:pPr>
            <a:r>
              <a:rPr sz="2550" b="1">
                <a:solidFill>
                  <a:srgbClr val="0F172A"/>
                </a:solidFill>
              </a:rPr>
              <a:t>Conclusion and responsible use</a:t>
            </a:r>
          </a:p>
        </p:txBody>
      </p:sp>
      <p:sp>
        <p:nvSpPr>
          <p:cNvPr id="2" name="">
            <a:extLst xmlns:a="http://schemas.openxmlformats.org/drawingml/2006/main">
              <a:ext uri="{FF2B5EF4-FFF2-40B4-BE49-F238E27FC236}">
                <a16:creationId xmlns:a16="http://schemas.microsoft.com/office/drawing/2014/main" id="{F7F428BB-BC3A-4C7D-B803-5814FEDD1643}"/>
              </a:ext>
            </a:extLst>
          </p:cNvPr>
          <p:cNvSpPr>
            <a:spLocks xmlns:a="http://schemas.openxmlformats.org/drawingml/2006/main" noGrp="1"/>
          </p:cNvSpPr>
          <p:nvPr/>
        </p:nvSpPr>
        <p:spPr>
          <a:xfrm xmlns:a="http://schemas.openxmlformats.org/drawingml/2006/main">
            <a:off x="685800" y="10668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36174"/>
                </a:solidFill>
              </a:defRPr>
            </a:defPPr>
          </a:lstStyle>
          <a:p xmlns:a="http://schemas.openxmlformats.org/drawingml/2006/main">
            <a:pPr>
              <a:defRPr sz="1050" b="0">
                <a:solidFill>
                  <a:srgbClr val="536174"/>
                </a:solidFill>
              </a:defRPr>
            </a:pPr>
            <a:r>
              <a:rPr sz="1050" b="0">
                <a:solidFill>
                  <a:srgbClr val="536174"/>
                </a:solidFill>
              </a:rPr>
              <a:t>PRG4206 Machine Learning | I26043592 — Vishnu Vardhan</a:t>
            </a:r>
          </a:p>
        </p:txBody>
      </p:sp>
      <p:sp>
        <p:nvSpPr>
          <p:cNvPr id="3" name="">
            <a:extLst xmlns:a="http://schemas.openxmlformats.org/drawingml/2006/main">
              <a:ext uri="{FF2B5EF4-FFF2-40B4-BE49-F238E27FC236}">
                <a16:creationId xmlns:a16="http://schemas.microsoft.com/office/drawing/2014/main" id="{B136204F-6B5B-49F2-B1BD-72E440189DFD}"/>
              </a:ext>
            </a:extLst>
          </p:cNvPr>
          <p:cNvSpPr>
            <a:spLocks xmlns:a="http://schemas.openxmlformats.org/drawingml/2006/main" noGrp="1"/>
          </p:cNvSpPr>
          <p:nvPr/>
        </p:nvSpPr>
        <p:spPr>
          <a:xfrm xmlns:a="http://schemas.openxmlformats.org/drawingml/2006/main">
            <a:off x="666750" y="1428750"/>
            <a:ext cx="108585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4" name="">
            <a:extLst xmlns:a="http://schemas.openxmlformats.org/drawingml/2006/main">
              <a:ext uri="{FF2B5EF4-FFF2-40B4-BE49-F238E27FC236}">
                <a16:creationId xmlns:a16="http://schemas.microsoft.com/office/drawing/2014/main" id="{AE56A096-6AD1-4C85-A29F-2E750A73FC35}"/>
              </a:ext>
            </a:extLst>
          </p:cNvPr>
          <p:cNvSpPr>
            <a:spLocks xmlns:a="http://schemas.openxmlformats.org/drawingml/2006/main" noGrp="1"/>
          </p:cNvSpPr>
          <p:nvPr/>
        </p:nvSpPr>
        <p:spPr>
          <a:xfrm xmlns:a="http://schemas.openxmlformats.org/drawingml/2006/main">
            <a:off x="11049000" y="63055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174"/>
                </a:solidFill>
              </a:defRPr>
            </a:defPPr>
          </a:lstStyle>
          <a:p xmlns:a="http://schemas.openxmlformats.org/drawingml/2006/main">
            <a:pPr>
              <a:defRPr sz="975" b="1">
                <a:solidFill>
                  <a:srgbClr val="536174"/>
                </a:solidFill>
              </a:defRPr>
            </a:pPr>
            <a:r>
              <a:rPr sz="975" b="1">
                <a:solidFill>
                  <a:srgbClr val="536174"/>
                </a:solidFill>
              </a:rPr>
              <a:t>08</a:t>
            </a:r>
          </a:p>
        </p:txBody>
      </p:sp>
      <p:sp>
        <p:nvSpPr>
          <p:cNvPr id="5" name="">
            <a:extLst xmlns:a="http://schemas.openxmlformats.org/drawingml/2006/main">
              <a:ext uri="{FF2B5EF4-FFF2-40B4-BE49-F238E27FC236}">
                <a16:creationId xmlns:a16="http://schemas.microsoft.com/office/drawing/2014/main" id="{F448C045-EFCE-4BE7-8558-00E08C310AF3}"/>
              </a:ext>
            </a:extLst>
          </p:cNvPr>
          <p:cNvSpPr>
            <a:spLocks xmlns:a="http://schemas.openxmlformats.org/drawingml/2006/main" noGrp="1"/>
          </p:cNvSpPr>
          <p:nvPr/>
        </p:nvSpPr>
        <p:spPr>
          <a:xfrm xmlns:a="http://schemas.openxmlformats.org/drawingml/2006/main">
            <a:off x="809625" y="180975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F172A"/>
                </a:solidFill>
              </a:defRPr>
            </a:defPPr>
          </a:lstStyle>
          <a:p xmlns:a="http://schemas.openxmlformats.org/drawingml/2006/main">
            <a:pPr>
              <a:defRPr sz="2250" b="1">
                <a:solidFill>
                  <a:srgbClr val="0F172A"/>
                </a:solidFill>
              </a:defRPr>
            </a:pPr>
            <a:r>
              <a:rPr sz="2250" b="1">
                <a:solidFill>
                  <a:srgbClr val="0F172A"/>
                </a:solidFill>
              </a:rPr>
              <a:t>TF-IDF with linear classifiers achieved strong HC3 benchmark performance while remaining fast, reproducible, and explainable.</a:t>
            </a:r>
          </a:p>
        </p:txBody>
      </p:sp>
      <p:sp>
        <p:nvSpPr>
          <p:cNvPr id="6" name="">
            <a:extLst xmlns:a="http://schemas.openxmlformats.org/drawingml/2006/main">
              <a:ext uri="{FF2B5EF4-FFF2-40B4-BE49-F238E27FC236}">
                <a16:creationId xmlns:a16="http://schemas.microsoft.com/office/drawing/2014/main" id="{DE013AF8-DC86-4EF8-83C4-91290C27330F}"/>
              </a:ext>
            </a:extLst>
          </p:cNvPr>
          <p:cNvSpPr>
            <a:spLocks xmlns:a="http://schemas.openxmlformats.org/drawingml/2006/main" noGrp="1"/>
          </p:cNvSpPr>
          <p:nvPr/>
        </p:nvSpPr>
        <p:spPr>
          <a:xfrm xmlns:a="http://schemas.openxmlformats.org/drawingml/2006/main">
            <a:off x="857250" y="3048000"/>
            <a:ext cx="819150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2033"/>
                </a:solidFill>
              </a:defRPr>
            </a:defPPr>
          </a:lstStyle>
          <a:p xmlns:a="http://schemas.openxmlformats.org/drawingml/2006/main">
            <a:pPr>
              <a:defRPr sz="1650" b="0">
                <a:solidFill>
                  <a:srgbClr val="172033"/>
                </a:solidFill>
              </a:defRPr>
            </a:pPr>
            <a:r>
              <a:rPr sz="1650" b="0">
                <a:solidFill>
                  <a:srgbClr val="172033"/>
                </a:solidFill>
              </a:rPr>
              <a:t>•  Best held-out test F1: 97.90% with Linear SVM</a:t>
            </a:r>
          </a:p>
          <a:p xmlns:a="http://schemas.openxmlformats.org/drawingml/2006/main">
            <a:r>
              <a:t/>
            </a:r>
          </a:p>
          <a:p xmlns:a="http://schemas.openxmlformats.org/drawingml/2006/main">
            <a:pPr>
              <a:defRPr sz="1650" b="0">
                <a:solidFill>
                  <a:srgbClr val="172033"/>
                </a:solidFill>
              </a:defRPr>
            </a:pPr>
            <a:r>
              <a:rPr sz="1650" b="0">
                <a:solidFill>
                  <a:srgbClr val="172033"/>
                </a:solidFill>
              </a:rPr>
              <a:t>•  SVM and Logistic Regression did not differ significantly in paired testing</a:t>
            </a:r>
          </a:p>
          <a:p xmlns:a="http://schemas.openxmlformats.org/drawingml/2006/main">
            <a:r>
              <a:t/>
            </a:r>
          </a:p>
          <a:p xmlns:a="http://schemas.openxmlformats.org/drawingml/2006/main">
            <a:pPr>
              <a:defRPr sz="1650" b="0">
                <a:solidFill>
                  <a:srgbClr val="172033"/>
                </a:solidFill>
              </a:defRPr>
            </a:pPr>
            <a:r>
              <a:rPr sz="1650" b="0">
                <a:solidFill>
                  <a:srgbClr val="172033"/>
                </a:solidFill>
              </a:rPr>
              <a:t>•  Dataset characteristics and domain shift limit generalisation</a:t>
            </a:r>
          </a:p>
          <a:p xmlns:a="http://schemas.openxmlformats.org/drawingml/2006/main">
            <a:r>
              <a:t/>
            </a:r>
          </a:p>
          <a:p xmlns:a="http://schemas.openxmlformats.org/drawingml/2006/main">
            <a:pPr>
              <a:defRPr sz="1650" b="0">
                <a:solidFill>
                  <a:srgbClr val="172033"/>
                </a:solidFill>
              </a:defRPr>
            </a:pPr>
            <a:r>
              <a:rPr sz="1650" b="0">
                <a:solidFill>
                  <a:srgbClr val="172033"/>
                </a:solidFill>
              </a:rPr>
              <a:t>•  Future work: cross-dataset evaluation, robustness, multilingual evaluation, and improved calibration</a:t>
            </a:r>
          </a:p>
        </p:txBody>
      </p:sp>
      <p:sp>
        <p:nvSpPr>
          <p:cNvPr id="7" name="">
            <a:extLst xmlns:a="http://schemas.openxmlformats.org/drawingml/2006/main">
              <a:ext uri="{FF2B5EF4-FFF2-40B4-BE49-F238E27FC236}">
                <a16:creationId xmlns:a16="http://schemas.microsoft.com/office/drawing/2014/main" id="{4620C599-1B97-48C0-968C-03726581779B}"/>
              </a:ext>
            </a:extLst>
          </p:cNvPr>
          <p:cNvSpPr>
            <a:spLocks xmlns:a="http://schemas.openxmlformats.org/drawingml/2006/main" noGrp="1"/>
          </p:cNvSpPr>
          <p:nvPr/>
        </p:nvSpPr>
        <p:spPr>
          <a:xfrm xmlns:a="http://schemas.openxmlformats.org/drawingml/2006/main">
            <a:off x="857250" y="5381625"/>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F766E"/>
                </a:solidFill>
              </a:defRPr>
            </a:defPPr>
          </a:lstStyle>
          <a:p xmlns:a="http://schemas.openxmlformats.org/drawingml/2006/main">
            <a:pPr>
              <a:defRPr sz="1950" b="1">
                <a:solidFill>
                  <a:srgbClr val="0F766E"/>
                </a:solidFill>
              </a:defRPr>
            </a:pPr>
            <a:r>
              <a:rPr sz="1950" b="1">
                <a:solidFill>
                  <a:srgbClr val="0F766E"/>
                </a:solidFill>
              </a:rPr>
              <a:t>Treat detector output as decision support, not definitive evidence of authorship.</a:t>
            </a:r>
          </a:p>
        </p:txBody>
      </p:sp>
    </p:spTree>
    <p:extLst>
      <p:ext uri="{BB962C8B-B14F-4D97-AF65-F5344CB8AC3E}">
        <p14:creationId xmlns:p14="http://schemas.microsoft.com/office/powerpoint/2010/main" val="1326550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2026-10-20T17:07:15.1650000Z</dcterms:created>
  <dcterms:modified xsi:type="dcterms:W3CDTF">2026-10-20T17:07:15.1650000Z</dcterms:modified>
</coreProperties>
</file>